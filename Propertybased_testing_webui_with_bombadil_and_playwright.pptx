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913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antithesishq.github.io/bombadil/index.html"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0A58"/>
        </a:solidFill>
        <a:effectLst/>
      </p:bgPr>
    </p:bg>
    <p:spTree>
      <p:nvGrpSpPr>
        <p:cNvPr id="1" name=""/>
        <p:cNvGrpSpPr/>
        <p:nvPr/>
      </p:nvGrpSpPr>
      <p:grpSpPr>
        <a:xfrm>
          <a:off x="0" y="0"/>
          <a:ext cx="0" cy="0"/>
          <a:chOff x="0" y="0"/>
          <a:chExt cx="0" cy="0"/>
        </a:xfrm>
      </p:grpSpPr>
      <p:sp>
        <p:nvSpPr>
          <p:cNvPr id="2" name="Text 0"/>
          <p:cNvSpPr txBox="1"/>
          <p:nvPr/>
        </p:nvSpPr>
        <p:spPr>
          <a:xfrm>
            <a:off x="548640" y="1097280"/>
            <a:ext cx="5120640" cy="2377440"/>
          </a:xfrm>
          <a:prstGeom prst="rect">
            <a:avLst/>
          </a:prstGeom>
          <a:noFill/>
          <a:ln/>
        </p:spPr>
        <p:txBody>
          <a:bodyPr wrap="square" lIns="0" tIns="0" rIns="0" bIns="0" rtlCol="0" anchor="t"/>
          <a:lstStyle/>
          <a:p>
            <a:pPr marL="0" indent="0">
              <a:buNone/>
            </a:pPr>
            <a:r>
              <a:rPr lang="en-US" sz="4000" b="1" dirty="0">
                <a:solidFill>
                  <a:srgbClr val="FFFFFF"/>
                </a:solidFill>
                <a:latin typeface="Arial" pitchFamily="34" charset="0"/>
                <a:ea typeface="Arial" pitchFamily="34" charset="-122"/>
                <a:cs typeface="Arial" pitchFamily="34" charset="-120"/>
              </a:rPr>
              <a:t>Property-based testing a web UI with Bombadil </a:t>
            </a:r>
            <a:br>
              <a:rPr lang="en-US" sz="4000" b="1" dirty="0">
                <a:solidFill>
                  <a:srgbClr val="FFFFFF"/>
                </a:solidFill>
                <a:latin typeface="Arial" pitchFamily="34" charset="0"/>
                <a:ea typeface="Arial" pitchFamily="34" charset="-122"/>
                <a:cs typeface="Arial" pitchFamily="34" charset="-120"/>
              </a:rPr>
            </a:br>
            <a:r>
              <a:rPr lang="en-US" sz="2800" b="1" dirty="0">
                <a:solidFill>
                  <a:schemeClr val="accent4">
                    <a:lumMod val="20000"/>
                    <a:lumOff val="80000"/>
                  </a:schemeClr>
                </a:solidFill>
                <a:latin typeface="Arial" pitchFamily="34" charset="0"/>
                <a:ea typeface="Arial" pitchFamily="34" charset="-122"/>
                <a:cs typeface="Arial" pitchFamily="34" charset="-120"/>
              </a:rPr>
              <a:t>(and Playwright)</a:t>
            </a:r>
            <a:endParaRPr lang="en-US" sz="4000" dirty="0">
              <a:solidFill>
                <a:schemeClr val="accent4">
                  <a:lumMod val="20000"/>
                  <a:lumOff val="80000"/>
                </a:schemeClr>
              </a:solidFill>
            </a:endParaRPr>
          </a:p>
        </p:txBody>
      </p:sp>
      <p:sp>
        <p:nvSpPr>
          <p:cNvPr id="3" name="Text 1"/>
          <p:cNvSpPr txBox="1"/>
          <p:nvPr/>
        </p:nvSpPr>
        <p:spPr>
          <a:xfrm>
            <a:off x="548640" y="3749040"/>
            <a:ext cx="4937760" cy="1188720"/>
          </a:xfrm>
          <a:prstGeom prst="rect">
            <a:avLst/>
          </a:prstGeom>
          <a:noFill/>
          <a:ln/>
        </p:spPr>
        <p:txBody>
          <a:bodyPr wrap="square" lIns="0" tIns="0" rIns="0" bIns="0" rtlCol="0" anchor="t"/>
          <a:lstStyle/>
          <a:p>
            <a:pPr marL="0" indent="0">
              <a:buNone/>
            </a:pPr>
            <a:r>
              <a:rPr lang="en-US" sz="1800" dirty="0">
                <a:solidFill>
                  <a:srgbClr val="CBC3E6"/>
                </a:solidFill>
                <a:latin typeface="Arial" pitchFamily="34" charset="0"/>
                <a:ea typeface="Arial" pitchFamily="34" charset="-122"/>
                <a:cs typeface="Arial" pitchFamily="34" charset="-120"/>
              </a:rPr>
              <a:t>One flow, start to finish: what the tool is, what a property is, and five short demos on an ATM app I was fixing this week.</a:t>
            </a:r>
            <a:endParaRPr lang="en-US" sz="1800" dirty="0"/>
          </a:p>
        </p:txBody>
      </p:sp>
      <p:sp>
        <p:nvSpPr>
          <p:cNvPr id="4" name="Text 2"/>
          <p:cNvSpPr txBox="1"/>
          <p:nvPr/>
        </p:nvSpPr>
        <p:spPr>
          <a:xfrm>
            <a:off x="548640" y="5120640"/>
            <a:ext cx="4937760" cy="731520"/>
          </a:xfrm>
          <a:prstGeom prst="rect">
            <a:avLst/>
          </a:prstGeom>
          <a:noFill/>
          <a:ln/>
        </p:spPr>
        <p:txBody>
          <a:bodyPr wrap="square" lIns="0" tIns="0" rIns="0" bIns="0" rtlCol="0" anchor="t"/>
          <a:lstStyle/>
          <a:p>
            <a:pPr marL="0" indent="0">
              <a:buNone/>
            </a:pPr>
            <a:r>
              <a:rPr lang="en-US" sz="1400" i="1" dirty="0">
                <a:solidFill>
                  <a:srgbClr val="FFFFFF"/>
                </a:solidFill>
                <a:latin typeface="Arial" pitchFamily="34" charset="0"/>
                <a:ea typeface="Arial" pitchFamily="34" charset="-122"/>
                <a:cs typeface="Arial" pitchFamily="34" charset="-120"/>
              </a:rPr>
              <a:t>Each demo shows the prompt that built it and the command that runs it.</a:t>
            </a:r>
            <a:endParaRPr lang="en-US" sz="1400" dirty="0"/>
          </a:p>
        </p:txBody>
      </p:sp>
      <p:sp>
        <p:nvSpPr>
          <p:cNvPr id="5" name="Shape 3"/>
          <p:cNvSpPr/>
          <p:nvPr/>
        </p:nvSpPr>
        <p:spPr>
          <a:xfrm>
            <a:off x="5897880" y="1783080"/>
            <a:ext cx="5943600" cy="2982575"/>
          </a:xfrm>
          <a:prstGeom prst="roundRect">
            <a:avLst>
              <a:gd name="adj" fmla="val 3679"/>
            </a:avLst>
          </a:prstGeom>
          <a:solidFill>
            <a:srgbClr val="FFFFFF"/>
          </a:solidFill>
          <a:ln w="12700">
            <a:solidFill>
              <a:srgbClr val="FFFFFF"/>
            </a:solidFill>
            <a:prstDash val="solid"/>
          </a:ln>
        </p:spPr>
        <p:txBody>
          <a:bodyPr/>
          <a:lstStyle/>
          <a:p>
            <a:endParaRPr lang="en-US"/>
          </a:p>
        </p:txBody>
      </p:sp>
      <p:pic>
        <p:nvPicPr>
          <p:cNvPr id="6" name="Image 0" descr="Bombadil logo, the ATM app and the list of 24 properties"/>
          <p:cNvPicPr>
            <a:picLocks noChangeAspect="1"/>
          </p:cNvPicPr>
          <p:nvPr/>
        </p:nvPicPr>
        <p:blipFill>
          <a:blip r:embed="rId3"/>
          <a:stretch>
            <a:fillRect/>
          </a:stretch>
        </p:blipFill>
        <p:spPr>
          <a:xfrm>
            <a:off x="6035040" y="1920240"/>
            <a:ext cx="5669280" cy="27082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85800" cy="685800"/>
          </a:xfrm>
          <a:prstGeom prst="ellipse">
            <a:avLst/>
          </a:prstGeom>
          <a:solidFill>
            <a:srgbClr val="E31937"/>
          </a:solidFill>
          <a:ln w="12700">
            <a:solidFill>
              <a:srgbClr val="E31937"/>
            </a:solidFill>
            <a:prstDash val="solid"/>
          </a:ln>
        </p:spPr>
        <p:txBody>
          <a:bodyPr/>
          <a:lstStyle/>
          <a:p>
            <a:endParaRPr lang="en-US"/>
          </a:p>
        </p:txBody>
      </p:sp>
      <p:sp>
        <p:nvSpPr>
          <p:cNvPr id="3" name="Text 1"/>
          <p:cNvSpPr txBox="1"/>
          <p:nvPr/>
        </p:nvSpPr>
        <p:spPr>
          <a:xfrm>
            <a:off x="548640" y="45720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4" name="Text 2"/>
          <p:cNvSpPr txBox="1"/>
          <p:nvPr/>
        </p:nvSpPr>
        <p:spPr>
          <a:xfrm>
            <a:off x="1463040" y="365760"/>
            <a:ext cx="10177272" cy="868680"/>
          </a:xfrm>
          <a:prstGeom prst="rect">
            <a:avLst/>
          </a:prstGeom>
          <a:noFill/>
          <a:ln/>
        </p:spPr>
        <p:txBody>
          <a:bodyPr wrap="square" lIns="0" tIns="0" rIns="0" bIns="0" rtlCol="0" anchor="ctr"/>
          <a:lstStyle/>
          <a:p>
            <a:pPr marL="0" indent="0">
              <a:buNone/>
            </a:pPr>
            <a:r>
              <a:rPr lang="en-US" sz="3200" b="1" dirty="0">
                <a:solidFill>
                  <a:srgbClr val="200A58"/>
                </a:solidFill>
                <a:latin typeface="Arial" pitchFamily="34" charset="0"/>
                <a:ea typeface="Arial" pitchFamily="34" charset="-122"/>
                <a:cs typeface="Arial" pitchFamily="34" charset="-120"/>
              </a:rPr>
              <a:t>New tool in the house: Bombadil</a:t>
            </a:r>
            <a:endParaRPr lang="en-US" sz="3200" dirty="0"/>
          </a:p>
        </p:txBody>
      </p:sp>
      <p:sp>
        <p:nvSpPr>
          <p:cNvPr id="5" name="Text 3"/>
          <p:cNvSpPr txBox="1"/>
          <p:nvPr/>
        </p:nvSpPr>
        <p:spPr>
          <a:xfrm>
            <a:off x="548640" y="1600200"/>
            <a:ext cx="5303520" cy="822960"/>
          </a:xfrm>
          <a:prstGeom prst="rect">
            <a:avLst/>
          </a:prstGeom>
          <a:noFill/>
          <a:ln/>
        </p:spPr>
        <p:txBody>
          <a:bodyPr wrap="square" lIns="0" tIns="0" rIns="0" bIns="0" rtlCol="0" anchor="t"/>
          <a:lstStyle/>
          <a:p>
            <a:pPr marL="0" indent="0">
              <a:buNone/>
            </a:pPr>
            <a:r>
              <a:rPr lang="en-US" sz="2200" b="1" dirty="0">
                <a:solidFill>
                  <a:srgbClr val="5236AB"/>
                </a:solidFill>
                <a:latin typeface="Arial" pitchFamily="34" charset="0"/>
                <a:ea typeface="Arial" pitchFamily="34" charset="-122"/>
                <a:cs typeface="Arial" pitchFamily="34" charset="-120"/>
              </a:rPr>
              <a:t>Property-based testing for web UIs.</a:t>
            </a:r>
            <a:endParaRPr lang="en-US" sz="2200" dirty="0"/>
          </a:p>
        </p:txBody>
      </p:sp>
      <p:sp>
        <p:nvSpPr>
          <p:cNvPr id="6" name="Text 4"/>
          <p:cNvSpPr txBox="1"/>
          <p:nvPr/>
        </p:nvSpPr>
        <p:spPr>
          <a:xfrm>
            <a:off x="548640" y="2606040"/>
            <a:ext cx="5120640" cy="2194560"/>
          </a:xfrm>
          <a:prstGeom prst="rect">
            <a:avLst/>
          </a:prstGeom>
          <a:noFill/>
          <a:ln/>
        </p:spPr>
        <p:txBody>
          <a:bodyPr wrap="square" lIns="0" tIns="0" rIns="0" bIns="0" rtlCol="0" anchor="t"/>
          <a:lstStyle/>
          <a:p>
            <a:pPr marL="0" indent="0">
              <a:buNone/>
            </a:pPr>
            <a:r>
              <a:rPr lang="en-US" sz="1700" dirty="0">
                <a:solidFill>
                  <a:srgbClr val="151515"/>
                </a:solidFill>
                <a:latin typeface="Arial" pitchFamily="34" charset="0"/>
                <a:ea typeface="Arial" pitchFamily="34" charset="-122"/>
                <a:cs typeface="Arial" pitchFamily="34" charset="-120"/>
              </a:rPr>
              <a:t>Instead of scripting test cases, you state what must always be true, and the tool explores the app on its own: it clicks, types, scrolls and reloads, and checks every property in every state it reaches.</a:t>
            </a:r>
            <a:endParaRPr lang="en-US" sz="1700" dirty="0"/>
          </a:p>
        </p:txBody>
      </p:sp>
      <p:sp>
        <p:nvSpPr>
          <p:cNvPr id="7" name="Text 5">
            <a:hlinkClick r:id="rId3"/>
          </p:cNvPr>
          <p:cNvSpPr txBox="1"/>
          <p:nvPr/>
        </p:nvSpPr>
        <p:spPr>
          <a:xfrm>
            <a:off x="548640" y="5577840"/>
            <a:ext cx="5120640" cy="365760"/>
          </a:xfrm>
          <a:prstGeom prst="rect">
            <a:avLst/>
          </a:prstGeom>
          <a:noFill/>
          <a:ln/>
        </p:spPr>
        <p:txBody>
          <a:bodyPr wrap="square" lIns="0" tIns="0" rIns="0" bIns="0" rtlCol="0" anchor="ctr"/>
          <a:lstStyle/>
          <a:p>
            <a:pPr marL="0" indent="0">
              <a:buNone/>
            </a:pPr>
            <a:r>
              <a:rPr lang="en-US" sz="1300" u="sng" dirty="0">
                <a:solidFill>
                  <a:srgbClr val="5236AB"/>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antithesishq.github.io/bombadil</a:t>
            </a:r>
            <a:endParaRPr lang="en-US" sz="1300" dirty="0"/>
          </a:p>
        </p:txBody>
      </p:sp>
      <p:sp>
        <p:nvSpPr>
          <p:cNvPr id="8" name="Text 6"/>
          <p:cNvSpPr txBox="1"/>
          <p:nvPr/>
        </p:nvSpPr>
        <p:spPr>
          <a:xfrm>
            <a:off x="6309360" y="1600200"/>
            <a:ext cx="5330952" cy="320040"/>
          </a:xfrm>
          <a:prstGeom prst="rect">
            <a:avLst/>
          </a:prstGeom>
          <a:noFill/>
          <a:ln/>
        </p:spPr>
        <p:txBody>
          <a:bodyPr wrap="square" lIns="0" tIns="0" rIns="0" bIns="0" rtlCol="0" anchor="t"/>
          <a:lstStyle/>
          <a:p>
            <a:pPr marL="0" indent="0">
              <a:buNone/>
            </a:pPr>
            <a:r>
              <a:rPr lang="en-US" sz="1200" b="1" kern="0" spc="300" dirty="0">
                <a:solidFill>
                  <a:srgbClr val="E31937"/>
                </a:solidFill>
                <a:latin typeface="Arial" pitchFamily="34" charset="0"/>
                <a:ea typeface="Arial" pitchFamily="34" charset="-122"/>
                <a:cs typeface="Arial" pitchFamily="34" charset="-120"/>
              </a:rPr>
              <a:t>IT RUNS IN A LOOP</a:t>
            </a:r>
            <a:endParaRPr lang="en-US" sz="1200" dirty="0"/>
          </a:p>
        </p:txBody>
      </p:sp>
      <p:sp>
        <p:nvSpPr>
          <p:cNvPr id="9" name="Shape 7"/>
          <p:cNvSpPr/>
          <p:nvPr/>
        </p:nvSpPr>
        <p:spPr>
          <a:xfrm>
            <a:off x="6309360" y="2057400"/>
            <a:ext cx="5330952" cy="822960"/>
          </a:xfrm>
          <a:prstGeom prst="roundRect">
            <a:avLst>
              <a:gd name="adj" fmla="val 13333"/>
            </a:avLst>
          </a:prstGeom>
          <a:solidFill>
            <a:srgbClr val="F2F1F9"/>
          </a:solidFill>
          <a:ln w="12700">
            <a:solidFill>
              <a:srgbClr val="F2F1F9"/>
            </a:solidFill>
            <a:prstDash val="solid"/>
          </a:ln>
        </p:spPr>
        <p:txBody>
          <a:bodyPr/>
          <a:lstStyle/>
          <a:p>
            <a:endParaRPr lang="en-US"/>
          </a:p>
        </p:txBody>
      </p:sp>
      <p:sp>
        <p:nvSpPr>
          <p:cNvPr id="10" name="Shape 8"/>
          <p:cNvSpPr/>
          <p:nvPr/>
        </p:nvSpPr>
        <p:spPr>
          <a:xfrm>
            <a:off x="6492240" y="2217420"/>
            <a:ext cx="502920" cy="502920"/>
          </a:xfrm>
          <a:prstGeom prst="ellipse">
            <a:avLst/>
          </a:prstGeom>
          <a:solidFill>
            <a:srgbClr val="5236AB"/>
          </a:solidFill>
          <a:ln w="12700">
            <a:solidFill>
              <a:srgbClr val="5236AB"/>
            </a:solidFill>
            <a:prstDash val="solid"/>
          </a:ln>
        </p:spPr>
        <p:txBody>
          <a:bodyPr/>
          <a:lstStyle/>
          <a:p>
            <a:endParaRPr lang="en-US"/>
          </a:p>
        </p:txBody>
      </p:sp>
      <p:sp>
        <p:nvSpPr>
          <p:cNvPr id="11" name="Text 9"/>
          <p:cNvSpPr txBox="1"/>
          <p:nvPr/>
        </p:nvSpPr>
        <p:spPr>
          <a:xfrm>
            <a:off x="6492240" y="221742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2" name="Text 10"/>
          <p:cNvSpPr txBox="1"/>
          <p:nvPr/>
        </p:nvSpPr>
        <p:spPr>
          <a:xfrm>
            <a:off x="7223760" y="2057400"/>
            <a:ext cx="4233672" cy="822960"/>
          </a:xfrm>
          <a:prstGeom prst="rect">
            <a:avLst/>
          </a:prstGeom>
          <a:noFill/>
          <a:ln/>
        </p:spPr>
        <p:txBody>
          <a:bodyPr wrap="square" lIns="0" tIns="0" rIns="0" bIns="0" rtlCol="0" anchor="ctr"/>
          <a:lstStyle/>
          <a:p>
            <a:pPr marL="0" indent="0">
              <a:buNone/>
            </a:pPr>
            <a:r>
              <a:rPr lang="en-US" sz="1600" dirty="0">
                <a:solidFill>
                  <a:srgbClr val="151515"/>
                </a:solidFill>
                <a:latin typeface="Arial" pitchFamily="34" charset="0"/>
                <a:ea typeface="Arial" pitchFamily="34" charset="-122"/>
                <a:cs typeface="Arial" pitchFamily="34" charset="-120"/>
              </a:rPr>
              <a:t>Extract the current state from the browser.</a:t>
            </a:r>
            <a:endParaRPr lang="en-US" sz="1600" dirty="0"/>
          </a:p>
        </p:txBody>
      </p:sp>
      <p:sp>
        <p:nvSpPr>
          <p:cNvPr id="13" name="Shape 11"/>
          <p:cNvSpPr/>
          <p:nvPr/>
        </p:nvSpPr>
        <p:spPr>
          <a:xfrm>
            <a:off x="6309360" y="3063240"/>
            <a:ext cx="5330952" cy="822960"/>
          </a:xfrm>
          <a:prstGeom prst="roundRect">
            <a:avLst>
              <a:gd name="adj" fmla="val 13333"/>
            </a:avLst>
          </a:prstGeom>
          <a:solidFill>
            <a:srgbClr val="F2F1F9"/>
          </a:solidFill>
          <a:ln w="12700">
            <a:solidFill>
              <a:srgbClr val="F2F1F9"/>
            </a:solidFill>
            <a:prstDash val="solid"/>
          </a:ln>
        </p:spPr>
        <p:txBody>
          <a:bodyPr/>
          <a:lstStyle/>
          <a:p>
            <a:endParaRPr lang="en-US"/>
          </a:p>
        </p:txBody>
      </p:sp>
      <p:sp>
        <p:nvSpPr>
          <p:cNvPr id="14" name="Shape 12"/>
          <p:cNvSpPr/>
          <p:nvPr/>
        </p:nvSpPr>
        <p:spPr>
          <a:xfrm>
            <a:off x="6492240" y="3223260"/>
            <a:ext cx="502920" cy="502920"/>
          </a:xfrm>
          <a:prstGeom prst="ellipse">
            <a:avLst/>
          </a:prstGeom>
          <a:solidFill>
            <a:srgbClr val="5236AB"/>
          </a:solidFill>
          <a:ln w="12700">
            <a:solidFill>
              <a:srgbClr val="5236AB"/>
            </a:solidFill>
            <a:prstDash val="solid"/>
          </a:ln>
        </p:spPr>
        <p:txBody>
          <a:bodyPr/>
          <a:lstStyle/>
          <a:p>
            <a:endParaRPr lang="en-US"/>
          </a:p>
        </p:txBody>
      </p:sp>
      <p:sp>
        <p:nvSpPr>
          <p:cNvPr id="15" name="Text 13"/>
          <p:cNvSpPr txBox="1"/>
          <p:nvPr/>
        </p:nvSpPr>
        <p:spPr>
          <a:xfrm>
            <a:off x="6492240" y="32232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6" name="Text 14"/>
          <p:cNvSpPr txBox="1"/>
          <p:nvPr/>
        </p:nvSpPr>
        <p:spPr>
          <a:xfrm>
            <a:off x="7223760" y="3063240"/>
            <a:ext cx="4233672" cy="822960"/>
          </a:xfrm>
          <a:prstGeom prst="rect">
            <a:avLst/>
          </a:prstGeom>
          <a:noFill/>
          <a:ln/>
        </p:spPr>
        <p:txBody>
          <a:bodyPr wrap="square" lIns="0" tIns="0" rIns="0" bIns="0" rtlCol="0" anchor="ctr"/>
          <a:lstStyle/>
          <a:p>
            <a:pPr marL="0" indent="0">
              <a:buNone/>
            </a:pPr>
            <a:r>
              <a:rPr lang="en-US" sz="1600" dirty="0">
                <a:solidFill>
                  <a:srgbClr val="151515"/>
                </a:solidFill>
                <a:latin typeface="Arial" pitchFamily="34" charset="0"/>
                <a:ea typeface="Arial" pitchFamily="34" charset="-122"/>
                <a:cs typeface="Arial" pitchFamily="34" charset="-120"/>
              </a:rPr>
              <a:t>Check all properties against that state.</a:t>
            </a:r>
            <a:endParaRPr lang="en-US" sz="1600" dirty="0"/>
          </a:p>
        </p:txBody>
      </p:sp>
      <p:sp>
        <p:nvSpPr>
          <p:cNvPr id="17" name="Shape 15"/>
          <p:cNvSpPr/>
          <p:nvPr/>
        </p:nvSpPr>
        <p:spPr>
          <a:xfrm>
            <a:off x="6309360" y="4069080"/>
            <a:ext cx="5330952" cy="822960"/>
          </a:xfrm>
          <a:prstGeom prst="roundRect">
            <a:avLst>
              <a:gd name="adj" fmla="val 13333"/>
            </a:avLst>
          </a:prstGeom>
          <a:solidFill>
            <a:srgbClr val="F2F1F9"/>
          </a:solidFill>
          <a:ln w="12700">
            <a:solidFill>
              <a:srgbClr val="F2F1F9"/>
            </a:solidFill>
            <a:prstDash val="solid"/>
          </a:ln>
        </p:spPr>
        <p:txBody>
          <a:bodyPr/>
          <a:lstStyle/>
          <a:p>
            <a:endParaRPr lang="en-US"/>
          </a:p>
        </p:txBody>
      </p:sp>
      <p:sp>
        <p:nvSpPr>
          <p:cNvPr id="18" name="Shape 16"/>
          <p:cNvSpPr/>
          <p:nvPr/>
        </p:nvSpPr>
        <p:spPr>
          <a:xfrm>
            <a:off x="6492240" y="4229100"/>
            <a:ext cx="502920" cy="502920"/>
          </a:xfrm>
          <a:prstGeom prst="ellipse">
            <a:avLst/>
          </a:prstGeom>
          <a:solidFill>
            <a:srgbClr val="5236AB"/>
          </a:solidFill>
          <a:ln w="12700">
            <a:solidFill>
              <a:srgbClr val="5236AB"/>
            </a:solidFill>
            <a:prstDash val="solid"/>
          </a:ln>
        </p:spPr>
        <p:txBody>
          <a:bodyPr/>
          <a:lstStyle/>
          <a:p>
            <a:endParaRPr lang="en-US"/>
          </a:p>
        </p:txBody>
      </p:sp>
      <p:sp>
        <p:nvSpPr>
          <p:cNvPr id="19" name="Text 17"/>
          <p:cNvSpPr txBox="1"/>
          <p:nvPr/>
        </p:nvSpPr>
        <p:spPr>
          <a:xfrm>
            <a:off x="6492240" y="42291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0" name="Text 18"/>
          <p:cNvSpPr txBox="1"/>
          <p:nvPr/>
        </p:nvSpPr>
        <p:spPr>
          <a:xfrm>
            <a:off x="7223760" y="4069080"/>
            <a:ext cx="4233672" cy="822960"/>
          </a:xfrm>
          <a:prstGeom prst="rect">
            <a:avLst/>
          </a:prstGeom>
          <a:noFill/>
          <a:ln/>
        </p:spPr>
        <p:txBody>
          <a:bodyPr wrap="square" lIns="0" tIns="0" rIns="0" bIns="0" rtlCol="0" anchor="ctr"/>
          <a:lstStyle/>
          <a:p>
            <a:pPr marL="0" indent="0">
              <a:buNone/>
            </a:pPr>
            <a:r>
              <a:rPr lang="en-US" sz="1600" dirty="0">
                <a:solidFill>
                  <a:srgbClr val="151515"/>
                </a:solidFill>
                <a:latin typeface="Arial" pitchFamily="34" charset="0"/>
                <a:ea typeface="Arial" pitchFamily="34" charset="-122"/>
                <a:cs typeface="Arial" pitchFamily="34" charset="-120"/>
              </a:rPr>
              <a:t>Pick the next action and perform it.</a:t>
            </a:r>
            <a:endParaRPr lang="en-US" sz="1600" dirty="0"/>
          </a:p>
        </p:txBody>
      </p:sp>
      <p:sp>
        <p:nvSpPr>
          <p:cNvPr id="21" name="Shape 19"/>
          <p:cNvSpPr/>
          <p:nvPr/>
        </p:nvSpPr>
        <p:spPr>
          <a:xfrm>
            <a:off x="6309360" y="5074920"/>
            <a:ext cx="5330952" cy="822960"/>
          </a:xfrm>
          <a:prstGeom prst="roundRect">
            <a:avLst>
              <a:gd name="adj" fmla="val 13333"/>
            </a:avLst>
          </a:prstGeom>
          <a:solidFill>
            <a:srgbClr val="F2F1F9"/>
          </a:solidFill>
          <a:ln w="12700">
            <a:solidFill>
              <a:srgbClr val="F2F1F9"/>
            </a:solidFill>
            <a:prstDash val="solid"/>
          </a:ln>
        </p:spPr>
        <p:txBody>
          <a:bodyPr/>
          <a:lstStyle/>
          <a:p>
            <a:endParaRPr lang="en-US"/>
          </a:p>
        </p:txBody>
      </p:sp>
      <p:sp>
        <p:nvSpPr>
          <p:cNvPr id="22" name="Shape 20"/>
          <p:cNvSpPr/>
          <p:nvPr/>
        </p:nvSpPr>
        <p:spPr>
          <a:xfrm>
            <a:off x="6492240" y="5234940"/>
            <a:ext cx="502920" cy="502920"/>
          </a:xfrm>
          <a:prstGeom prst="ellipse">
            <a:avLst/>
          </a:prstGeom>
          <a:solidFill>
            <a:srgbClr val="5236AB"/>
          </a:solidFill>
          <a:ln w="12700">
            <a:solidFill>
              <a:srgbClr val="5236AB"/>
            </a:solidFill>
            <a:prstDash val="solid"/>
          </a:ln>
        </p:spPr>
        <p:txBody>
          <a:bodyPr/>
          <a:lstStyle/>
          <a:p>
            <a:endParaRPr lang="en-US"/>
          </a:p>
        </p:txBody>
      </p:sp>
      <p:sp>
        <p:nvSpPr>
          <p:cNvPr id="23" name="Text 21"/>
          <p:cNvSpPr txBox="1"/>
          <p:nvPr/>
        </p:nvSpPr>
        <p:spPr>
          <a:xfrm>
            <a:off x="6492240" y="52349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4" name="Text 22"/>
          <p:cNvSpPr txBox="1"/>
          <p:nvPr/>
        </p:nvSpPr>
        <p:spPr>
          <a:xfrm>
            <a:off x="7223760" y="5074920"/>
            <a:ext cx="4233672" cy="822960"/>
          </a:xfrm>
          <a:prstGeom prst="rect">
            <a:avLst/>
          </a:prstGeom>
          <a:noFill/>
          <a:ln/>
        </p:spPr>
        <p:txBody>
          <a:bodyPr wrap="square" lIns="0" tIns="0" rIns="0" bIns="0" rtlCol="0" anchor="ctr"/>
          <a:lstStyle/>
          <a:p>
            <a:pPr marL="0" indent="0">
              <a:buNone/>
            </a:pPr>
            <a:r>
              <a:rPr lang="en-US" sz="1600" dirty="0">
                <a:solidFill>
                  <a:srgbClr val="151515"/>
                </a:solidFill>
                <a:latin typeface="Arial" pitchFamily="34" charset="0"/>
                <a:ea typeface="Arial" pitchFamily="34" charset="-122"/>
                <a:cs typeface="Arial" pitchFamily="34" charset="-120"/>
              </a:rPr>
              <a:t>Wait for the page to settle, then start over.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85800" cy="685800"/>
          </a:xfrm>
          <a:prstGeom prst="ellipse">
            <a:avLst/>
          </a:prstGeom>
          <a:solidFill>
            <a:srgbClr val="E31937"/>
          </a:solidFill>
          <a:ln w="12700">
            <a:solidFill>
              <a:srgbClr val="E31937"/>
            </a:solidFill>
            <a:prstDash val="solid"/>
          </a:ln>
        </p:spPr>
        <p:txBody>
          <a:bodyPr/>
          <a:lstStyle/>
          <a:p>
            <a:endParaRPr lang="en-US"/>
          </a:p>
        </p:txBody>
      </p:sp>
      <p:sp>
        <p:nvSpPr>
          <p:cNvPr id="3" name="Text 1"/>
          <p:cNvSpPr txBox="1"/>
          <p:nvPr/>
        </p:nvSpPr>
        <p:spPr>
          <a:xfrm>
            <a:off x="548640" y="45720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4" name="Text 2"/>
          <p:cNvSpPr txBox="1"/>
          <p:nvPr/>
        </p:nvSpPr>
        <p:spPr>
          <a:xfrm>
            <a:off x="1463040" y="365760"/>
            <a:ext cx="10177272" cy="868680"/>
          </a:xfrm>
          <a:prstGeom prst="rect">
            <a:avLst/>
          </a:prstGeom>
          <a:noFill/>
          <a:ln/>
        </p:spPr>
        <p:txBody>
          <a:bodyPr wrap="square" lIns="0" tIns="0" rIns="0" bIns="0" rtlCol="0" anchor="ctr"/>
          <a:lstStyle/>
          <a:p>
            <a:pPr marL="0" indent="0">
              <a:buNone/>
            </a:pPr>
            <a:r>
              <a:rPr lang="en-US" sz="3200" b="1" dirty="0">
                <a:solidFill>
                  <a:srgbClr val="200A58"/>
                </a:solidFill>
                <a:latin typeface="Arial" pitchFamily="34" charset="0"/>
                <a:ea typeface="Arial" pitchFamily="34" charset="-122"/>
                <a:cs typeface="Arial" pitchFamily="34" charset="-120"/>
              </a:rPr>
              <a:t>What is a property?</a:t>
            </a:r>
            <a:endParaRPr lang="en-US" sz="3200" dirty="0"/>
          </a:p>
        </p:txBody>
      </p:sp>
      <p:sp>
        <p:nvSpPr>
          <p:cNvPr id="5" name="Text 3"/>
          <p:cNvSpPr txBox="1"/>
          <p:nvPr/>
        </p:nvSpPr>
        <p:spPr>
          <a:xfrm>
            <a:off x="548640" y="1600200"/>
            <a:ext cx="11091672" cy="640080"/>
          </a:xfrm>
          <a:prstGeom prst="rect">
            <a:avLst/>
          </a:prstGeom>
          <a:noFill/>
          <a:ln/>
        </p:spPr>
        <p:txBody>
          <a:bodyPr wrap="square" lIns="0" tIns="0" rIns="0" bIns="0" rtlCol="0" anchor="t"/>
          <a:lstStyle/>
          <a:p>
            <a:pPr marL="0" indent="0">
              <a:buNone/>
            </a:pPr>
            <a:r>
              <a:rPr lang="en-US" sz="2000" i="1" dirty="0">
                <a:solidFill>
                  <a:srgbClr val="5C5C5C"/>
                </a:solidFill>
                <a:latin typeface="Arial" pitchFamily="34" charset="0"/>
                <a:ea typeface="Arial" pitchFamily="34" charset="-122"/>
                <a:cs typeface="Arial" pitchFamily="34" charset="-120"/>
              </a:rPr>
              <a:t>A statement about the system that should hold in general, not for one example.</a:t>
            </a:r>
            <a:endParaRPr lang="en-US" sz="2000" dirty="0"/>
          </a:p>
        </p:txBody>
      </p:sp>
      <p:sp>
        <p:nvSpPr>
          <p:cNvPr id="6" name="Shape 4"/>
          <p:cNvSpPr/>
          <p:nvPr/>
        </p:nvSpPr>
        <p:spPr>
          <a:xfrm>
            <a:off x="548640" y="2514600"/>
            <a:ext cx="5362956" cy="3566160"/>
          </a:xfrm>
          <a:prstGeom prst="roundRect">
            <a:avLst>
              <a:gd name="adj" fmla="val 3077"/>
            </a:avLst>
          </a:prstGeom>
          <a:solidFill>
            <a:srgbClr val="F2F1F9"/>
          </a:solidFill>
          <a:ln w="12700">
            <a:solidFill>
              <a:srgbClr val="F2F1F9"/>
            </a:solidFill>
            <a:prstDash val="solid"/>
          </a:ln>
        </p:spPr>
        <p:txBody>
          <a:bodyPr/>
          <a:lstStyle/>
          <a:p>
            <a:endParaRPr lang="en-US"/>
          </a:p>
        </p:txBody>
      </p:sp>
      <p:sp>
        <p:nvSpPr>
          <p:cNvPr id="7" name="Text 5"/>
          <p:cNvSpPr txBox="1"/>
          <p:nvPr/>
        </p:nvSpPr>
        <p:spPr>
          <a:xfrm>
            <a:off x="822960" y="2697480"/>
            <a:ext cx="4814316" cy="457200"/>
          </a:xfrm>
          <a:prstGeom prst="rect">
            <a:avLst/>
          </a:prstGeom>
          <a:noFill/>
          <a:ln/>
        </p:spPr>
        <p:txBody>
          <a:bodyPr wrap="square" lIns="0" tIns="0" rIns="0" bIns="0" rtlCol="0" anchor="ctr"/>
          <a:lstStyle/>
          <a:p>
            <a:pPr marL="0" indent="0">
              <a:buNone/>
            </a:pPr>
            <a:r>
              <a:rPr lang="en-US" sz="2000" b="1" dirty="0">
                <a:solidFill>
                  <a:srgbClr val="5236AB"/>
                </a:solidFill>
                <a:latin typeface="Arial" pitchFamily="34" charset="0"/>
                <a:ea typeface="Arial" pitchFamily="34" charset="-122"/>
                <a:cs typeface="Arial" pitchFamily="34" charset="-120"/>
              </a:rPr>
              <a:t>Example-based</a:t>
            </a:r>
            <a:endParaRPr lang="en-US" sz="2000" dirty="0"/>
          </a:p>
        </p:txBody>
      </p:sp>
      <p:sp>
        <p:nvSpPr>
          <p:cNvPr id="8" name="Text 6"/>
          <p:cNvSpPr txBox="1"/>
          <p:nvPr/>
        </p:nvSpPr>
        <p:spPr>
          <a:xfrm>
            <a:off x="822960" y="3246120"/>
            <a:ext cx="4814316" cy="2651760"/>
          </a:xfrm>
          <a:prstGeom prst="rect">
            <a:avLst/>
          </a:prstGeom>
          <a:noFill/>
          <a:ln/>
        </p:spPr>
        <p:txBody>
          <a:bodyPr wrap="square" lIns="0" tIns="0" rIns="0" bIns="0" rtlCol="0" anchor="t"/>
          <a:lstStyle/>
          <a:p>
            <a:pPr marL="0" indent="0">
              <a:buNone/>
            </a:pPr>
            <a:r>
              <a:rPr lang="en-US" sz="2000" dirty="0">
                <a:solidFill>
                  <a:srgbClr val="151515"/>
                </a:solidFill>
                <a:latin typeface="Arial" pitchFamily="34" charset="0"/>
                <a:ea typeface="Arial" pitchFamily="34" charset="-122"/>
                <a:cs typeface="Arial" pitchFamily="34" charset="-120"/>
              </a:rPr>
              <a:t>“Withdraw €50 from €2000, balance shows €1950.”</a:t>
            </a:r>
            <a:endParaRPr lang="en-US" sz="2000" dirty="0"/>
          </a:p>
        </p:txBody>
      </p:sp>
      <p:sp>
        <p:nvSpPr>
          <p:cNvPr id="9" name="Shape 7"/>
          <p:cNvSpPr/>
          <p:nvPr/>
        </p:nvSpPr>
        <p:spPr>
          <a:xfrm>
            <a:off x="6277356" y="2514600"/>
            <a:ext cx="5362956" cy="3566160"/>
          </a:xfrm>
          <a:prstGeom prst="roundRect">
            <a:avLst>
              <a:gd name="adj" fmla="val 3077"/>
            </a:avLst>
          </a:prstGeom>
          <a:solidFill>
            <a:srgbClr val="5236AB"/>
          </a:solidFill>
          <a:ln w="12700">
            <a:solidFill>
              <a:srgbClr val="5236AB"/>
            </a:solidFill>
            <a:prstDash val="solid"/>
          </a:ln>
        </p:spPr>
        <p:txBody>
          <a:bodyPr/>
          <a:lstStyle/>
          <a:p>
            <a:endParaRPr lang="en-US"/>
          </a:p>
        </p:txBody>
      </p:sp>
      <p:sp>
        <p:nvSpPr>
          <p:cNvPr id="10" name="Text 8"/>
          <p:cNvSpPr txBox="1"/>
          <p:nvPr/>
        </p:nvSpPr>
        <p:spPr>
          <a:xfrm>
            <a:off x="6551676" y="2697480"/>
            <a:ext cx="4814316" cy="45720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Property</a:t>
            </a:r>
            <a:endParaRPr lang="en-US" sz="2000" dirty="0"/>
          </a:p>
        </p:txBody>
      </p:sp>
      <p:sp>
        <p:nvSpPr>
          <p:cNvPr id="11" name="Text 9"/>
          <p:cNvSpPr txBox="1"/>
          <p:nvPr/>
        </p:nvSpPr>
        <p:spPr>
          <a:xfrm>
            <a:off x="6551676" y="3246120"/>
            <a:ext cx="4814316" cy="2651760"/>
          </a:xfrm>
          <a:prstGeom prst="rect">
            <a:avLst/>
          </a:prstGeom>
          <a:noFill/>
          <a:ln/>
        </p:spPr>
        <p:txBody>
          <a:bodyPr wrap="square" lIns="0" tIns="0" rIns="0" bIns="0" rtlCol="0" anchor="t"/>
          <a:lstStyle/>
          <a:p>
            <a:pPr marL="0" indent="0">
              <a:spcAft>
                <a:spcPts val="1400"/>
              </a:spcAft>
              <a:buNone/>
            </a:pPr>
            <a:r>
              <a:rPr lang="en-US" sz="2000" dirty="0">
                <a:solidFill>
                  <a:srgbClr val="FFFFFF"/>
                </a:solidFill>
                <a:latin typeface="Arial" pitchFamily="34" charset="0"/>
                <a:ea typeface="Arial" pitchFamily="34" charset="-122"/>
                <a:cs typeface="Arial" pitchFamily="34" charset="-120"/>
              </a:rPr>
              <a:t>“The balance is never negative.”</a:t>
            </a:r>
            <a:endParaRPr lang="en-US" sz="2000" dirty="0"/>
          </a:p>
          <a:p>
            <a:pPr marL="0" indent="0">
              <a:spcAft>
                <a:spcPts val="1400"/>
              </a:spcAft>
              <a:buNone/>
            </a:pPr>
            <a:r>
              <a:rPr lang="en-US" sz="2000" dirty="0">
                <a:solidFill>
                  <a:srgbClr val="FFFFFF"/>
                </a:solidFill>
                <a:latin typeface="Arial" pitchFamily="34" charset="0"/>
                <a:ea typeface="Arial" pitchFamily="34" charset="-122"/>
                <a:cs typeface="Arial" pitchFamily="34" charset="-120"/>
              </a:rPr>
              <a:t>“A declined withdrawal changes nothing.”</a:t>
            </a:r>
            <a:endParaRPr lang="en-US" sz="2000" dirty="0"/>
          </a:p>
          <a:p>
            <a:pPr marL="0" indent="0">
              <a:buNone/>
            </a:pPr>
            <a:r>
              <a:rPr lang="en-US" sz="2000" dirty="0">
                <a:solidFill>
                  <a:srgbClr val="FFFFFF"/>
                </a:solidFill>
                <a:latin typeface="Arial" pitchFamily="34" charset="0"/>
                <a:ea typeface="Arial" pitchFamily="34" charset="-122"/>
                <a:cs typeface="Arial" pitchFamily="34" charset="-120"/>
              </a:rPr>
              <a:t>“The account never withdraws more than its daily limit.”</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85800" cy="685800"/>
          </a:xfrm>
          <a:prstGeom prst="ellipse">
            <a:avLst/>
          </a:prstGeom>
          <a:solidFill>
            <a:srgbClr val="E31937"/>
          </a:solidFill>
          <a:ln w="12700">
            <a:solidFill>
              <a:srgbClr val="E31937"/>
            </a:solidFill>
            <a:prstDash val="solid"/>
          </a:ln>
        </p:spPr>
        <p:txBody>
          <a:bodyPr/>
          <a:lstStyle/>
          <a:p>
            <a:endParaRPr lang="en-US"/>
          </a:p>
        </p:txBody>
      </p:sp>
      <p:sp>
        <p:nvSpPr>
          <p:cNvPr id="3" name="Text 1"/>
          <p:cNvSpPr txBox="1"/>
          <p:nvPr/>
        </p:nvSpPr>
        <p:spPr>
          <a:xfrm>
            <a:off x="548640" y="45720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4" name="Text 2"/>
          <p:cNvSpPr txBox="1"/>
          <p:nvPr/>
        </p:nvSpPr>
        <p:spPr>
          <a:xfrm>
            <a:off x="1463040" y="365760"/>
            <a:ext cx="10177272" cy="868680"/>
          </a:xfrm>
          <a:prstGeom prst="rect">
            <a:avLst/>
          </a:prstGeom>
          <a:noFill/>
          <a:ln/>
        </p:spPr>
        <p:txBody>
          <a:bodyPr wrap="square" lIns="0" tIns="0" rIns="0" bIns="0" rtlCol="0" anchor="ctr"/>
          <a:lstStyle/>
          <a:p>
            <a:pPr marL="0" indent="0">
              <a:buNone/>
            </a:pPr>
            <a:r>
              <a:rPr lang="en-US" sz="3200" b="1" dirty="0">
                <a:solidFill>
                  <a:srgbClr val="200A58"/>
                </a:solidFill>
                <a:latin typeface="Arial" pitchFamily="34" charset="0"/>
                <a:ea typeface="Arial" pitchFamily="34" charset="-122"/>
                <a:cs typeface="Arial" pitchFamily="34" charset="-120"/>
              </a:rPr>
              <a:t>How testers reason about them</a:t>
            </a:r>
            <a:endParaRPr lang="en-US" sz="3200" dirty="0"/>
          </a:p>
        </p:txBody>
      </p:sp>
      <p:sp>
        <p:nvSpPr>
          <p:cNvPr id="5" name="Text 3"/>
          <p:cNvSpPr txBox="1"/>
          <p:nvPr/>
        </p:nvSpPr>
        <p:spPr>
          <a:xfrm>
            <a:off x="548640" y="1600200"/>
            <a:ext cx="11091672" cy="457200"/>
          </a:xfrm>
          <a:prstGeom prst="rect">
            <a:avLst/>
          </a:prstGeom>
          <a:noFill/>
          <a:ln/>
        </p:spPr>
        <p:txBody>
          <a:bodyPr wrap="square" lIns="0" tIns="0" rIns="0" bIns="0" rtlCol="0" anchor="t"/>
          <a:lstStyle/>
          <a:p>
            <a:pPr marL="0" indent="0">
              <a:buNone/>
            </a:pPr>
            <a:r>
              <a:rPr lang="en-US" sz="1800" dirty="0">
                <a:solidFill>
                  <a:srgbClr val="5C5C5C"/>
                </a:solidFill>
                <a:latin typeface="Arial" pitchFamily="34" charset="0"/>
                <a:ea typeface="Arial" pitchFamily="34" charset="-122"/>
                <a:cs typeface="Arial" pitchFamily="34" charset="-120"/>
              </a:rPr>
              <a:t>Three things are worth keeping apart:</a:t>
            </a:r>
            <a:endParaRPr lang="en-US" sz="1800" dirty="0"/>
          </a:p>
        </p:txBody>
      </p:sp>
      <p:sp>
        <p:nvSpPr>
          <p:cNvPr id="6" name="Shape 4"/>
          <p:cNvSpPr/>
          <p:nvPr/>
        </p:nvSpPr>
        <p:spPr>
          <a:xfrm>
            <a:off x="548640" y="2286000"/>
            <a:ext cx="3453384" cy="1920240"/>
          </a:xfrm>
          <a:prstGeom prst="roundRect">
            <a:avLst>
              <a:gd name="adj" fmla="val 5714"/>
            </a:avLst>
          </a:prstGeom>
          <a:solidFill>
            <a:srgbClr val="F2F1F9"/>
          </a:solidFill>
          <a:ln w="12700">
            <a:solidFill>
              <a:srgbClr val="F2F1F9"/>
            </a:solidFill>
            <a:prstDash val="solid"/>
          </a:ln>
        </p:spPr>
        <p:txBody>
          <a:bodyPr/>
          <a:lstStyle/>
          <a:p>
            <a:endParaRPr lang="en-US"/>
          </a:p>
        </p:txBody>
      </p:sp>
      <p:sp>
        <p:nvSpPr>
          <p:cNvPr id="7" name="Text 5"/>
          <p:cNvSpPr txBox="1"/>
          <p:nvPr/>
        </p:nvSpPr>
        <p:spPr>
          <a:xfrm>
            <a:off x="822960" y="2468880"/>
            <a:ext cx="2904744" cy="457200"/>
          </a:xfrm>
          <a:prstGeom prst="rect">
            <a:avLst/>
          </a:prstGeom>
          <a:noFill/>
          <a:ln/>
        </p:spPr>
        <p:txBody>
          <a:bodyPr wrap="square" lIns="0" tIns="0" rIns="0" bIns="0" rtlCol="0" anchor="ctr"/>
          <a:lstStyle/>
          <a:p>
            <a:pPr marL="0" indent="0">
              <a:buNone/>
            </a:pPr>
            <a:r>
              <a:rPr lang="en-US" sz="2400" b="1" dirty="0">
                <a:solidFill>
                  <a:srgbClr val="5236AB"/>
                </a:solidFill>
                <a:latin typeface="Arial" pitchFamily="34" charset="0"/>
                <a:ea typeface="Arial" pitchFamily="34" charset="-122"/>
                <a:cs typeface="Arial" pitchFamily="34" charset="-120"/>
              </a:rPr>
              <a:t>Authoring</a:t>
            </a:r>
            <a:endParaRPr lang="en-US" sz="2400" dirty="0"/>
          </a:p>
        </p:txBody>
      </p:sp>
      <p:sp>
        <p:nvSpPr>
          <p:cNvPr id="8" name="Text 6"/>
          <p:cNvSpPr txBox="1"/>
          <p:nvPr/>
        </p:nvSpPr>
        <p:spPr>
          <a:xfrm>
            <a:off x="822960" y="3017520"/>
            <a:ext cx="2904744" cy="1005840"/>
          </a:xfrm>
          <a:prstGeom prst="rect">
            <a:avLst/>
          </a:prstGeom>
          <a:noFill/>
          <a:ln/>
        </p:spPr>
        <p:txBody>
          <a:bodyPr wrap="square" lIns="0" tIns="0" rIns="0" bIns="0" rtlCol="0" anchor="t"/>
          <a:lstStyle/>
          <a:p>
            <a:pPr marL="0" indent="0">
              <a:buNone/>
            </a:pPr>
            <a:r>
              <a:rPr lang="en-US" sz="1800" dirty="0">
                <a:solidFill>
                  <a:srgbClr val="151515"/>
                </a:solidFill>
                <a:latin typeface="Arial" pitchFamily="34" charset="0"/>
                <a:ea typeface="Arial" pitchFamily="34" charset="-122"/>
                <a:cs typeface="Arial" pitchFamily="34" charset="-120"/>
              </a:rPr>
              <a:t>Always AI!</a:t>
            </a:r>
            <a:endParaRPr lang="en-US" sz="1800" dirty="0"/>
          </a:p>
        </p:txBody>
      </p:sp>
      <p:sp>
        <p:nvSpPr>
          <p:cNvPr id="9" name="Shape 7"/>
          <p:cNvSpPr/>
          <p:nvPr/>
        </p:nvSpPr>
        <p:spPr>
          <a:xfrm>
            <a:off x="4367784" y="2286000"/>
            <a:ext cx="3453384" cy="1920240"/>
          </a:xfrm>
          <a:prstGeom prst="roundRect">
            <a:avLst>
              <a:gd name="adj" fmla="val 5714"/>
            </a:avLst>
          </a:prstGeom>
          <a:solidFill>
            <a:srgbClr val="F2F1F9"/>
          </a:solidFill>
          <a:ln w="12700">
            <a:solidFill>
              <a:srgbClr val="F2F1F9"/>
            </a:solidFill>
            <a:prstDash val="solid"/>
          </a:ln>
        </p:spPr>
        <p:txBody>
          <a:bodyPr/>
          <a:lstStyle/>
          <a:p>
            <a:endParaRPr lang="en-US"/>
          </a:p>
        </p:txBody>
      </p:sp>
      <p:sp>
        <p:nvSpPr>
          <p:cNvPr id="10" name="Text 8"/>
          <p:cNvSpPr txBox="1"/>
          <p:nvPr/>
        </p:nvSpPr>
        <p:spPr>
          <a:xfrm>
            <a:off x="4642104" y="2468880"/>
            <a:ext cx="2904744" cy="457200"/>
          </a:xfrm>
          <a:prstGeom prst="rect">
            <a:avLst/>
          </a:prstGeom>
          <a:noFill/>
          <a:ln/>
        </p:spPr>
        <p:txBody>
          <a:bodyPr wrap="square" lIns="0" tIns="0" rIns="0" bIns="0" rtlCol="0" anchor="ctr"/>
          <a:lstStyle/>
          <a:p>
            <a:pPr marL="0" indent="0">
              <a:buNone/>
            </a:pPr>
            <a:r>
              <a:rPr lang="en-US" sz="2400" b="1" dirty="0">
                <a:solidFill>
                  <a:srgbClr val="5236AB"/>
                </a:solidFill>
                <a:latin typeface="Arial" pitchFamily="34" charset="0"/>
                <a:ea typeface="Arial" pitchFamily="34" charset="-122"/>
                <a:cs typeface="Arial" pitchFamily="34" charset="-120"/>
              </a:rPr>
              <a:t>Execution</a:t>
            </a:r>
            <a:endParaRPr lang="en-US" sz="2400" dirty="0"/>
          </a:p>
        </p:txBody>
      </p:sp>
      <p:sp>
        <p:nvSpPr>
          <p:cNvPr id="11" name="Text 9"/>
          <p:cNvSpPr txBox="1"/>
          <p:nvPr/>
        </p:nvSpPr>
        <p:spPr>
          <a:xfrm>
            <a:off x="4642104" y="3017520"/>
            <a:ext cx="2904744" cy="1005840"/>
          </a:xfrm>
          <a:prstGeom prst="rect">
            <a:avLst/>
          </a:prstGeom>
          <a:noFill/>
          <a:ln/>
        </p:spPr>
        <p:txBody>
          <a:bodyPr wrap="square" lIns="0" tIns="0" rIns="0" bIns="0" rtlCol="0" anchor="t"/>
          <a:lstStyle/>
          <a:p>
            <a:pPr marL="0" indent="0">
              <a:buNone/>
            </a:pPr>
            <a:r>
              <a:rPr lang="en-US" sz="1800" dirty="0">
                <a:solidFill>
                  <a:srgbClr val="151515"/>
                </a:solidFill>
                <a:latin typeface="Arial" pitchFamily="34" charset="0"/>
                <a:ea typeface="Arial" pitchFamily="34" charset="-122"/>
                <a:cs typeface="Arial" pitchFamily="34" charset="-120"/>
              </a:rPr>
              <a:t>Generated vs. handcrafted.</a:t>
            </a:r>
            <a:endParaRPr lang="en-US" sz="1800" dirty="0"/>
          </a:p>
        </p:txBody>
      </p:sp>
      <p:sp>
        <p:nvSpPr>
          <p:cNvPr id="12" name="Shape 10"/>
          <p:cNvSpPr/>
          <p:nvPr/>
        </p:nvSpPr>
        <p:spPr>
          <a:xfrm>
            <a:off x="8186928" y="2286000"/>
            <a:ext cx="3453384" cy="1920240"/>
          </a:xfrm>
          <a:prstGeom prst="roundRect">
            <a:avLst>
              <a:gd name="adj" fmla="val 5714"/>
            </a:avLst>
          </a:prstGeom>
          <a:solidFill>
            <a:srgbClr val="F2F1F9"/>
          </a:solidFill>
          <a:ln w="12700">
            <a:solidFill>
              <a:srgbClr val="F2F1F9"/>
            </a:solidFill>
            <a:prstDash val="solid"/>
          </a:ln>
        </p:spPr>
        <p:txBody>
          <a:bodyPr/>
          <a:lstStyle/>
          <a:p>
            <a:endParaRPr lang="en-US"/>
          </a:p>
        </p:txBody>
      </p:sp>
      <p:sp>
        <p:nvSpPr>
          <p:cNvPr id="13" name="Text 11"/>
          <p:cNvSpPr txBox="1"/>
          <p:nvPr/>
        </p:nvSpPr>
        <p:spPr>
          <a:xfrm>
            <a:off x="8461248" y="2468880"/>
            <a:ext cx="2904744" cy="457200"/>
          </a:xfrm>
          <a:prstGeom prst="rect">
            <a:avLst/>
          </a:prstGeom>
          <a:noFill/>
          <a:ln/>
        </p:spPr>
        <p:txBody>
          <a:bodyPr wrap="square" lIns="0" tIns="0" rIns="0" bIns="0" rtlCol="0" anchor="ctr"/>
          <a:lstStyle/>
          <a:p>
            <a:pPr marL="0" indent="0">
              <a:buNone/>
            </a:pPr>
            <a:r>
              <a:rPr lang="en-US" sz="2400" b="1" dirty="0">
                <a:solidFill>
                  <a:srgbClr val="5236AB"/>
                </a:solidFill>
                <a:latin typeface="Arial" pitchFamily="34" charset="0"/>
                <a:ea typeface="Arial" pitchFamily="34" charset="-122"/>
                <a:cs typeface="Arial" pitchFamily="34" charset="-120"/>
              </a:rPr>
              <a:t>Oracles</a:t>
            </a:r>
            <a:endParaRPr lang="en-US" sz="2400" dirty="0"/>
          </a:p>
        </p:txBody>
      </p:sp>
      <p:sp>
        <p:nvSpPr>
          <p:cNvPr id="14" name="Text 12"/>
          <p:cNvSpPr txBox="1"/>
          <p:nvPr/>
        </p:nvSpPr>
        <p:spPr>
          <a:xfrm>
            <a:off x="8461248" y="3017520"/>
            <a:ext cx="2904744" cy="1005840"/>
          </a:xfrm>
          <a:prstGeom prst="rect">
            <a:avLst/>
          </a:prstGeom>
          <a:noFill/>
          <a:ln/>
        </p:spPr>
        <p:txBody>
          <a:bodyPr wrap="square" lIns="0" tIns="0" rIns="0" bIns="0" rtlCol="0" anchor="t"/>
          <a:lstStyle/>
          <a:p>
            <a:pPr marL="0" indent="0">
              <a:buNone/>
            </a:pPr>
            <a:r>
              <a:rPr lang="en-US" sz="1800" dirty="0">
                <a:solidFill>
                  <a:srgbClr val="151515"/>
                </a:solidFill>
                <a:latin typeface="Arial" pitchFamily="34" charset="0"/>
                <a:ea typeface="Arial" pitchFamily="34" charset="-122"/>
                <a:cs typeface="Arial" pitchFamily="34" charset="-120"/>
              </a:rPr>
              <a:t>Always-true statements vs. specific checks.</a:t>
            </a:r>
            <a:endParaRPr lang="en-US" sz="1800" dirty="0"/>
          </a:p>
        </p:txBody>
      </p:sp>
      <p:sp>
        <p:nvSpPr>
          <p:cNvPr id="15" name="Shape 13"/>
          <p:cNvSpPr/>
          <p:nvPr/>
        </p:nvSpPr>
        <p:spPr>
          <a:xfrm>
            <a:off x="548640" y="4572000"/>
            <a:ext cx="11091672" cy="1554480"/>
          </a:xfrm>
          <a:prstGeom prst="roundRect">
            <a:avLst>
              <a:gd name="adj" fmla="val 7059"/>
            </a:avLst>
          </a:prstGeom>
          <a:solidFill>
            <a:srgbClr val="200A58"/>
          </a:solidFill>
          <a:ln w="12700">
            <a:solidFill>
              <a:srgbClr val="200A58"/>
            </a:solidFill>
            <a:prstDash val="solid"/>
          </a:ln>
        </p:spPr>
        <p:txBody>
          <a:bodyPr/>
          <a:lstStyle/>
          <a:p>
            <a:endParaRPr lang="en-US"/>
          </a:p>
        </p:txBody>
      </p:sp>
      <p:sp>
        <p:nvSpPr>
          <p:cNvPr id="16" name="Text 14"/>
          <p:cNvSpPr txBox="1"/>
          <p:nvPr/>
        </p:nvSpPr>
        <p:spPr>
          <a:xfrm>
            <a:off x="914400" y="4572000"/>
            <a:ext cx="10360152" cy="155448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Authoring with AI yet not running agentic testing. </a:t>
            </a:r>
            <a:r>
              <a:rPr lang="en-US" sz="1800" dirty="0">
                <a:solidFill>
                  <a:srgbClr val="FFFFFF"/>
                </a:solidFill>
                <a:latin typeface="Arial" pitchFamily="34" charset="0"/>
                <a:ea typeface="Arial" pitchFamily="34" charset="-122"/>
                <a:cs typeface="Arial" pitchFamily="34" charset="-120"/>
              </a:rPr>
              <a:t>These are deterministic generated tests. Fewer tokens harmed by knowing the difference.</a:t>
            </a:r>
            <a:endParaRPr lang="en-US" sz="1800" dirty="0"/>
          </a:p>
          <a:p>
            <a:pPr marL="0" indent="0">
              <a:spcBef>
                <a:spcPts val="1000"/>
              </a:spcBef>
              <a:buNone/>
            </a:pP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85800" cy="685800"/>
          </a:xfrm>
          <a:prstGeom prst="ellipse">
            <a:avLst/>
          </a:prstGeom>
          <a:solidFill>
            <a:srgbClr val="E31937"/>
          </a:solidFill>
          <a:ln w="12700">
            <a:solidFill>
              <a:srgbClr val="E31937"/>
            </a:solidFill>
            <a:prstDash val="solid"/>
          </a:ln>
        </p:spPr>
        <p:txBody>
          <a:bodyPr/>
          <a:lstStyle/>
          <a:p>
            <a:endParaRPr lang="en-US"/>
          </a:p>
        </p:txBody>
      </p:sp>
      <p:sp>
        <p:nvSpPr>
          <p:cNvPr id="3" name="Text 1"/>
          <p:cNvSpPr txBox="1"/>
          <p:nvPr/>
        </p:nvSpPr>
        <p:spPr>
          <a:xfrm>
            <a:off x="548640" y="45720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4" name="Text 2"/>
          <p:cNvSpPr txBox="1"/>
          <p:nvPr/>
        </p:nvSpPr>
        <p:spPr>
          <a:xfrm>
            <a:off x="1463040" y="365760"/>
            <a:ext cx="10177272" cy="868680"/>
          </a:xfrm>
          <a:prstGeom prst="rect">
            <a:avLst/>
          </a:prstGeom>
          <a:noFill/>
          <a:ln/>
        </p:spPr>
        <p:txBody>
          <a:bodyPr wrap="square" lIns="0" tIns="0" rIns="0" bIns="0" rtlCol="0" anchor="ctr"/>
          <a:lstStyle/>
          <a:p>
            <a:pPr marL="0" indent="0">
              <a:buNone/>
            </a:pPr>
            <a:r>
              <a:rPr lang="en-US" sz="3200" b="1" dirty="0">
                <a:solidFill>
                  <a:srgbClr val="200A58"/>
                </a:solidFill>
                <a:latin typeface="Arial" pitchFamily="34" charset="0"/>
                <a:ea typeface="Arial" pitchFamily="34" charset="-122"/>
                <a:cs typeface="Arial" pitchFamily="34" charset="-120"/>
              </a:rPr>
              <a:t>The app under test: before and after</a:t>
            </a:r>
            <a:endParaRPr lang="en-US" sz="3200" dirty="0"/>
          </a:p>
        </p:txBody>
      </p:sp>
      <p:sp>
        <p:nvSpPr>
          <p:cNvPr id="5" name="Text 3"/>
          <p:cNvSpPr txBox="1"/>
          <p:nvPr/>
        </p:nvSpPr>
        <p:spPr>
          <a:xfrm>
            <a:off x="548640" y="1600200"/>
            <a:ext cx="5212080" cy="2011680"/>
          </a:xfrm>
          <a:prstGeom prst="rect">
            <a:avLst/>
          </a:prstGeom>
          <a:noFill/>
          <a:ln/>
        </p:spPr>
        <p:txBody>
          <a:bodyPr wrap="square" lIns="0" tIns="0" rIns="0" bIns="0" rtlCol="0" anchor="t"/>
          <a:lstStyle/>
          <a:p>
            <a:pPr marL="0" indent="0">
              <a:buNone/>
            </a:pPr>
            <a:r>
              <a:rPr lang="en-US" sz="1700" dirty="0">
                <a:solidFill>
                  <a:srgbClr val="151515"/>
                </a:solidFill>
                <a:latin typeface="Arial" pitchFamily="34" charset="0"/>
                <a:ea typeface="Arial" pitchFamily="34" charset="-122"/>
                <a:cs typeface="Arial" pitchFamily="34" charset="-120"/>
              </a:rPr>
              <a:t>The ATM simulator is a single HTML page: balance, amount field, WITHDRAW, plus DEBUG and ADMIN panels for limits, cash and clock. I fixed bugs in it on Tuesday, so there are two versions side by side.</a:t>
            </a:r>
            <a:endParaRPr lang="en-US" sz="1700" dirty="0"/>
          </a:p>
        </p:txBody>
      </p:sp>
      <p:sp>
        <p:nvSpPr>
          <p:cNvPr id="6" name="Shape 4"/>
          <p:cNvSpPr/>
          <p:nvPr/>
        </p:nvSpPr>
        <p:spPr>
          <a:xfrm>
            <a:off x="548640" y="3931920"/>
            <a:ext cx="2468880" cy="2011680"/>
          </a:xfrm>
          <a:prstGeom prst="roundRect">
            <a:avLst>
              <a:gd name="adj" fmla="val 5455"/>
            </a:avLst>
          </a:prstGeom>
          <a:solidFill>
            <a:srgbClr val="F2F1F9"/>
          </a:solidFill>
          <a:ln w="12700">
            <a:solidFill>
              <a:srgbClr val="F2F1F9"/>
            </a:solidFill>
            <a:prstDash val="solid"/>
          </a:ln>
        </p:spPr>
        <p:txBody>
          <a:bodyPr/>
          <a:lstStyle/>
          <a:p>
            <a:endParaRPr lang="en-US"/>
          </a:p>
        </p:txBody>
      </p:sp>
      <p:sp>
        <p:nvSpPr>
          <p:cNvPr id="7" name="Text 5"/>
          <p:cNvSpPr txBox="1"/>
          <p:nvPr/>
        </p:nvSpPr>
        <p:spPr>
          <a:xfrm>
            <a:off x="822960" y="4114800"/>
            <a:ext cx="1920240" cy="457200"/>
          </a:xfrm>
          <a:prstGeom prst="rect">
            <a:avLst/>
          </a:prstGeom>
          <a:noFill/>
          <a:ln/>
        </p:spPr>
        <p:txBody>
          <a:bodyPr wrap="square" lIns="0" tIns="0" rIns="0" bIns="0" rtlCol="0" anchor="ctr"/>
          <a:lstStyle/>
          <a:p>
            <a:pPr marL="0" indent="0">
              <a:buNone/>
            </a:pPr>
            <a:r>
              <a:rPr lang="en-US" sz="2000" b="1" dirty="0">
                <a:solidFill>
                  <a:srgbClr val="5236AB"/>
                </a:solidFill>
                <a:latin typeface="Courier New" pitchFamily="34" charset="0"/>
                <a:ea typeface="Courier New" pitchFamily="34" charset="-122"/>
                <a:cs typeface="Courier New" pitchFamily="34" charset="-120"/>
              </a:rPr>
              <a:t>Monday/</a:t>
            </a:r>
            <a:endParaRPr lang="en-US" sz="2000" dirty="0"/>
          </a:p>
        </p:txBody>
      </p:sp>
      <p:sp>
        <p:nvSpPr>
          <p:cNvPr id="8" name="Text 6"/>
          <p:cNvSpPr txBox="1"/>
          <p:nvPr/>
        </p:nvSpPr>
        <p:spPr>
          <a:xfrm>
            <a:off x="822960" y="4663440"/>
            <a:ext cx="1920240" cy="1097280"/>
          </a:xfrm>
          <a:prstGeom prst="rect">
            <a:avLst/>
          </a:prstGeom>
          <a:noFill/>
          <a:ln/>
        </p:spPr>
        <p:txBody>
          <a:bodyPr wrap="square" lIns="0" tIns="0" rIns="0" bIns="0" rtlCol="0" anchor="t"/>
          <a:lstStyle/>
          <a:p>
            <a:pPr marL="0" indent="0">
              <a:buNone/>
            </a:pPr>
            <a:r>
              <a:rPr lang="en-US" sz="1700" dirty="0">
                <a:solidFill>
                  <a:srgbClr val="151515"/>
                </a:solidFill>
                <a:latin typeface="Arial" pitchFamily="34" charset="0"/>
                <a:ea typeface="Arial" pitchFamily="34" charset="-122"/>
                <a:cs typeface="Arial" pitchFamily="34" charset="-120"/>
              </a:rPr>
              <a:t>Before the fixes.</a:t>
            </a:r>
            <a:endParaRPr lang="en-US" sz="1700" dirty="0"/>
          </a:p>
        </p:txBody>
      </p:sp>
      <p:sp>
        <p:nvSpPr>
          <p:cNvPr id="9" name="Shape 7"/>
          <p:cNvSpPr/>
          <p:nvPr/>
        </p:nvSpPr>
        <p:spPr>
          <a:xfrm>
            <a:off x="3291840" y="3931920"/>
            <a:ext cx="2468880" cy="2011680"/>
          </a:xfrm>
          <a:prstGeom prst="roundRect">
            <a:avLst>
              <a:gd name="adj" fmla="val 5455"/>
            </a:avLst>
          </a:prstGeom>
          <a:solidFill>
            <a:srgbClr val="5236AB"/>
          </a:solidFill>
          <a:ln w="12700">
            <a:solidFill>
              <a:srgbClr val="5236AB"/>
            </a:solidFill>
            <a:prstDash val="solid"/>
          </a:ln>
        </p:spPr>
        <p:txBody>
          <a:bodyPr/>
          <a:lstStyle/>
          <a:p>
            <a:endParaRPr lang="en-US"/>
          </a:p>
        </p:txBody>
      </p:sp>
      <p:sp>
        <p:nvSpPr>
          <p:cNvPr id="10" name="Text 8"/>
          <p:cNvSpPr txBox="1"/>
          <p:nvPr/>
        </p:nvSpPr>
        <p:spPr>
          <a:xfrm>
            <a:off x="3566160" y="4114800"/>
            <a:ext cx="1920240" cy="457200"/>
          </a:xfrm>
          <a:prstGeom prst="rect">
            <a:avLst/>
          </a:prstGeom>
          <a:noFill/>
          <a:ln/>
        </p:spPr>
        <p:txBody>
          <a:bodyPr wrap="square" lIns="0" tIns="0" rIns="0" bIns="0" rtlCol="0" anchor="ctr"/>
          <a:lstStyle/>
          <a:p>
            <a:pPr marL="0" indent="0">
              <a:buNone/>
            </a:pPr>
            <a:r>
              <a:rPr lang="en-US" sz="2000" b="1" dirty="0">
                <a:solidFill>
                  <a:srgbClr val="FFFFFF"/>
                </a:solidFill>
                <a:latin typeface="Courier New" pitchFamily="34" charset="0"/>
                <a:ea typeface="Courier New" pitchFamily="34" charset="-122"/>
                <a:cs typeface="Courier New" pitchFamily="34" charset="-120"/>
              </a:rPr>
              <a:t>Thursday/</a:t>
            </a:r>
            <a:endParaRPr lang="en-US" sz="2000" dirty="0"/>
          </a:p>
        </p:txBody>
      </p:sp>
      <p:sp>
        <p:nvSpPr>
          <p:cNvPr id="11" name="Text 9"/>
          <p:cNvSpPr txBox="1"/>
          <p:nvPr/>
        </p:nvSpPr>
        <p:spPr>
          <a:xfrm>
            <a:off x="3566160" y="4663440"/>
            <a:ext cx="1920240" cy="1097280"/>
          </a:xfrm>
          <a:prstGeom prst="rect">
            <a:avLst/>
          </a:prstGeom>
          <a:noFill/>
          <a:ln/>
        </p:spPr>
        <p:txBody>
          <a:bodyPr wrap="square" lIns="0" tIns="0" rIns="0" bIns="0" rtlCol="0" anchor="t"/>
          <a:lstStyle/>
          <a:p>
            <a:pPr marL="0" indent="0">
              <a:buNone/>
            </a:pPr>
            <a:r>
              <a:rPr lang="en-US" sz="1700" dirty="0">
                <a:solidFill>
                  <a:srgbClr val="FFFFFF"/>
                </a:solidFill>
                <a:latin typeface="Arial" pitchFamily="34" charset="0"/>
                <a:ea typeface="Arial" pitchFamily="34" charset="-122"/>
                <a:cs typeface="Arial" pitchFamily="34" charset="-120"/>
              </a:rPr>
              <a:t>Today's version.</a:t>
            </a:r>
            <a:endParaRPr lang="en-US" sz="1700" dirty="0"/>
          </a:p>
        </p:txBody>
      </p:sp>
      <p:sp>
        <p:nvSpPr>
          <p:cNvPr id="12" name="Shape 10"/>
          <p:cNvSpPr/>
          <p:nvPr/>
        </p:nvSpPr>
        <p:spPr>
          <a:xfrm>
            <a:off x="6309360" y="1600200"/>
            <a:ext cx="5330952" cy="4343400"/>
          </a:xfrm>
          <a:prstGeom prst="roundRect">
            <a:avLst>
              <a:gd name="adj" fmla="val 2526"/>
            </a:avLst>
          </a:prstGeom>
          <a:solidFill>
            <a:srgbClr val="F2F1F9"/>
          </a:solidFill>
          <a:ln w="12700">
            <a:solidFill>
              <a:srgbClr val="F2F1F9"/>
            </a:solidFill>
            <a:prstDash val="solid"/>
          </a:ln>
        </p:spPr>
        <p:txBody>
          <a:bodyPr/>
          <a:lstStyle/>
          <a:p>
            <a:endParaRPr lang="en-US"/>
          </a:p>
        </p:txBody>
      </p:sp>
      <p:sp>
        <p:nvSpPr>
          <p:cNvPr id="13" name="Text 11"/>
          <p:cNvSpPr txBox="1"/>
          <p:nvPr/>
        </p:nvSpPr>
        <p:spPr>
          <a:xfrm>
            <a:off x="6583680" y="1783080"/>
            <a:ext cx="4782312" cy="274320"/>
          </a:xfrm>
          <a:prstGeom prst="rect">
            <a:avLst/>
          </a:prstGeom>
          <a:noFill/>
          <a:ln/>
        </p:spPr>
        <p:txBody>
          <a:bodyPr wrap="square" lIns="0" tIns="0" rIns="0" bIns="0" rtlCol="0" anchor="ctr"/>
          <a:lstStyle/>
          <a:p>
            <a:pPr marL="0" indent="0">
              <a:buNone/>
            </a:pPr>
            <a:r>
              <a:rPr lang="en-US" sz="1100" b="1" kern="0" spc="300" dirty="0">
                <a:solidFill>
                  <a:srgbClr val="E31937"/>
                </a:solidFill>
                <a:latin typeface="Arial" pitchFamily="34" charset="0"/>
                <a:ea typeface="Arial" pitchFamily="34" charset="-122"/>
                <a:cs typeface="Arial" pitchFamily="34" charset="-120"/>
              </a:rPr>
              <a:t>PROMPT</a:t>
            </a:r>
            <a:endParaRPr lang="en-US" sz="1100" dirty="0"/>
          </a:p>
        </p:txBody>
      </p:sp>
      <p:sp>
        <p:nvSpPr>
          <p:cNvPr id="14" name="Text 12"/>
          <p:cNvSpPr txBox="1"/>
          <p:nvPr/>
        </p:nvSpPr>
        <p:spPr>
          <a:xfrm>
            <a:off x="6583680" y="2148840"/>
            <a:ext cx="4782312" cy="3611880"/>
          </a:xfrm>
          <a:prstGeom prst="rect">
            <a:avLst/>
          </a:prstGeom>
          <a:noFill/>
          <a:ln/>
        </p:spPr>
        <p:txBody>
          <a:bodyPr wrap="square" lIns="0" tIns="0" rIns="0" bIns="0" rtlCol="0" anchor="t"/>
          <a:lstStyle/>
          <a:p>
            <a:pPr marL="0" indent="0">
              <a:buNone/>
            </a:pPr>
            <a:r>
              <a:rPr lang="en-US" sz="1400" dirty="0">
                <a:solidFill>
                  <a:srgbClr val="151515"/>
                </a:solidFill>
                <a:latin typeface="Courier New" pitchFamily="34" charset="0"/>
                <a:ea typeface="Courier New" pitchFamily="34" charset="-122"/>
                <a:cs typeface="Courier New" pitchFamily="34" charset="-120"/>
              </a:rPr>
              <a:t>I have a project here called atm that I was fixing on Tuesday this week. I want a Monday's version of that html app brought to this project, into folder Monday. And today's version of that html app brought to this project, into folder Thursday. Would you be able to do that for me?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85800" cy="685800"/>
          </a:xfrm>
          <a:prstGeom prst="ellipse">
            <a:avLst/>
          </a:prstGeom>
          <a:solidFill>
            <a:srgbClr val="E31937"/>
          </a:solidFill>
          <a:ln w="12700">
            <a:solidFill>
              <a:srgbClr val="E31937"/>
            </a:solidFill>
            <a:prstDash val="solid"/>
          </a:ln>
        </p:spPr>
        <p:txBody>
          <a:bodyPr/>
          <a:lstStyle/>
          <a:p>
            <a:endParaRPr lang="en-US"/>
          </a:p>
        </p:txBody>
      </p:sp>
      <p:sp>
        <p:nvSpPr>
          <p:cNvPr id="3" name="Text 1"/>
          <p:cNvSpPr txBox="1"/>
          <p:nvPr/>
        </p:nvSpPr>
        <p:spPr>
          <a:xfrm>
            <a:off x="548640" y="45720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4" name="Text 2"/>
          <p:cNvSpPr txBox="1"/>
          <p:nvPr/>
        </p:nvSpPr>
        <p:spPr>
          <a:xfrm>
            <a:off x="1463040" y="365760"/>
            <a:ext cx="10177272" cy="868680"/>
          </a:xfrm>
          <a:prstGeom prst="rect">
            <a:avLst/>
          </a:prstGeom>
          <a:noFill/>
          <a:ln/>
        </p:spPr>
        <p:txBody>
          <a:bodyPr wrap="square" lIns="0" tIns="0" rIns="0" bIns="0" rtlCol="0" anchor="ctr"/>
          <a:lstStyle/>
          <a:p>
            <a:pPr marL="0" indent="0">
              <a:buNone/>
            </a:pPr>
            <a:r>
              <a:rPr lang="en-US" sz="3200" b="1" dirty="0">
                <a:solidFill>
                  <a:srgbClr val="200A58"/>
                </a:solidFill>
                <a:latin typeface="Arial" pitchFamily="34" charset="0"/>
                <a:ea typeface="Arial" pitchFamily="34" charset="-122"/>
                <a:cs typeface="Arial" pitchFamily="34" charset="-120"/>
              </a:rPr>
              <a:t>Demo: default properties</a:t>
            </a:r>
            <a:endParaRPr lang="en-US" sz="3200" dirty="0"/>
          </a:p>
        </p:txBody>
      </p:sp>
      <p:sp>
        <p:nvSpPr>
          <p:cNvPr id="5" name="Text 3"/>
          <p:cNvSpPr txBox="1"/>
          <p:nvPr/>
        </p:nvSpPr>
        <p:spPr>
          <a:xfrm>
            <a:off x="548640" y="1600200"/>
            <a:ext cx="5212080" cy="731520"/>
          </a:xfrm>
          <a:prstGeom prst="rect">
            <a:avLst/>
          </a:prstGeom>
          <a:noFill/>
          <a:ln/>
        </p:spPr>
        <p:txBody>
          <a:bodyPr wrap="square" lIns="0" tIns="0" rIns="0" bIns="0" rtlCol="0" anchor="t"/>
          <a:lstStyle/>
          <a:p>
            <a:pPr marL="0" indent="0">
              <a:buNone/>
            </a:pPr>
            <a:r>
              <a:rPr lang="en-US" sz="1800" dirty="0">
                <a:solidFill>
                  <a:srgbClr val="5C5C5C"/>
                </a:solidFill>
                <a:latin typeface="Arial" pitchFamily="34" charset="0"/>
                <a:ea typeface="Arial" pitchFamily="34" charset="-122"/>
                <a:cs typeface="Arial" pitchFamily="34" charset="-120"/>
              </a:rPr>
              <a:t>Bombadil ships with four properties that fit any web app.</a:t>
            </a:r>
            <a:endParaRPr lang="en-US" sz="1800" dirty="0"/>
          </a:p>
        </p:txBody>
      </p:sp>
      <p:sp>
        <p:nvSpPr>
          <p:cNvPr id="6" name="Shape 4"/>
          <p:cNvSpPr/>
          <p:nvPr/>
        </p:nvSpPr>
        <p:spPr>
          <a:xfrm>
            <a:off x="548640" y="2514600"/>
            <a:ext cx="2514600" cy="1600200"/>
          </a:xfrm>
          <a:prstGeom prst="roundRect">
            <a:avLst>
              <a:gd name="adj" fmla="val 6857"/>
            </a:avLst>
          </a:prstGeom>
          <a:solidFill>
            <a:srgbClr val="5236AB"/>
          </a:solidFill>
          <a:ln w="12700">
            <a:solidFill>
              <a:srgbClr val="5236AB"/>
            </a:solidFill>
            <a:prstDash val="solid"/>
          </a:ln>
        </p:spPr>
        <p:txBody>
          <a:bodyPr/>
          <a:lstStyle/>
          <a:p>
            <a:endParaRPr lang="en-US"/>
          </a:p>
        </p:txBody>
      </p:sp>
      <p:sp>
        <p:nvSpPr>
          <p:cNvPr id="7" name="Text 5"/>
          <p:cNvSpPr txBox="1"/>
          <p:nvPr/>
        </p:nvSpPr>
        <p:spPr>
          <a:xfrm>
            <a:off x="777240" y="2514600"/>
            <a:ext cx="2057400" cy="160020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No HTTP error codes</a:t>
            </a:r>
            <a:endParaRPr lang="en-US" sz="1800" dirty="0"/>
          </a:p>
        </p:txBody>
      </p:sp>
      <p:sp>
        <p:nvSpPr>
          <p:cNvPr id="8" name="Shape 6"/>
          <p:cNvSpPr/>
          <p:nvPr/>
        </p:nvSpPr>
        <p:spPr>
          <a:xfrm>
            <a:off x="3246120" y="2514600"/>
            <a:ext cx="2514600" cy="1600200"/>
          </a:xfrm>
          <a:prstGeom prst="roundRect">
            <a:avLst>
              <a:gd name="adj" fmla="val 6857"/>
            </a:avLst>
          </a:prstGeom>
          <a:solidFill>
            <a:srgbClr val="5236AB"/>
          </a:solidFill>
          <a:ln w="12700">
            <a:solidFill>
              <a:srgbClr val="5236AB"/>
            </a:solidFill>
            <a:prstDash val="solid"/>
          </a:ln>
        </p:spPr>
        <p:txBody>
          <a:bodyPr/>
          <a:lstStyle/>
          <a:p>
            <a:endParaRPr lang="en-US"/>
          </a:p>
        </p:txBody>
      </p:sp>
      <p:sp>
        <p:nvSpPr>
          <p:cNvPr id="9" name="Text 7"/>
          <p:cNvSpPr txBox="1"/>
          <p:nvPr/>
        </p:nvSpPr>
        <p:spPr>
          <a:xfrm>
            <a:off x="3474720" y="2514600"/>
            <a:ext cx="2057400" cy="160020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No uncaught exceptions</a:t>
            </a:r>
            <a:endParaRPr lang="en-US" sz="1800" dirty="0"/>
          </a:p>
        </p:txBody>
      </p:sp>
      <p:sp>
        <p:nvSpPr>
          <p:cNvPr id="10" name="Shape 8"/>
          <p:cNvSpPr/>
          <p:nvPr/>
        </p:nvSpPr>
        <p:spPr>
          <a:xfrm>
            <a:off x="548640" y="4297680"/>
            <a:ext cx="2514600" cy="1600200"/>
          </a:xfrm>
          <a:prstGeom prst="roundRect">
            <a:avLst>
              <a:gd name="adj" fmla="val 6857"/>
            </a:avLst>
          </a:prstGeom>
          <a:solidFill>
            <a:srgbClr val="5236AB"/>
          </a:solidFill>
          <a:ln w="12700">
            <a:solidFill>
              <a:srgbClr val="5236AB"/>
            </a:solidFill>
            <a:prstDash val="solid"/>
          </a:ln>
        </p:spPr>
        <p:txBody>
          <a:bodyPr/>
          <a:lstStyle/>
          <a:p>
            <a:endParaRPr lang="en-US"/>
          </a:p>
        </p:txBody>
      </p:sp>
      <p:sp>
        <p:nvSpPr>
          <p:cNvPr id="11" name="Text 9"/>
          <p:cNvSpPr txBox="1"/>
          <p:nvPr/>
        </p:nvSpPr>
        <p:spPr>
          <a:xfrm>
            <a:off x="777240" y="4297680"/>
            <a:ext cx="2057400" cy="160020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No unhandled promise rejections</a:t>
            </a:r>
            <a:endParaRPr lang="en-US" sz="1800" dirty="0"/>
          </a:p>
        </p:txBody>
      </p:sp>
      <p:sp>
        <p:nvSpPr>
          <p:cNvPr id="12" name="Shape 10"/>
          <p:cNvSpPr/>
          <p:nvPr/>
        </p:nvSpPr>
        <p:spPr>
          <a:xfrm>
            <a:off x="3246120" y="4297680"/>
            <a:ext cx="2514600" cy="1600200"/>
          </a:xfrm>
          <a:prstGeom prst="roundRect">
            <a:avLst>
              <a:gd name="adj" fmla="val 6857"/>
            </a:avLst>
          </a:prstGeom>
          <a:solidFill>
            <a:srgbClr val="5236AB"/>
          </a:solidFill>
          <a:ln w="12700">
            <a:solidFill>
              <a:srgbClr val="5236AB"/>
            </a:solidFill>
            <a:prstDash val="solid"/>
          </a:ln>
        </p:spPr>
        <p:txBody>
          <a:bodyPr/>
          <a:lstStyle/>
          <a:p>
            <a:endParaRPr lang="en-US"/>
          </a:p>
        </p:txBody>
      </p:sp>
      <p:sp>
        <p:nvSpPr>
          <p:cNvPr id="13" name="Text 11"/>
          <p:cNvSpPr txBox="1"/>
          <p:nvPr/>
        </p:nvSpPr>
        <p:spPr>
          <a:xfrm>
            <a:off x="3474720" y="4297680"/>
            <a:ext cx="2057400" cy="160020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No console errors</a:t>
            </a:r>
            <a:endParaRPr lang="en-US" sz="1800" dirty="0"/>
          </a:p>
        </p:txBody>
      </p:sp>
      <p:sp>
        <p:nvSpPr>
          <p:cNvPr id="14" name="Shape 12"/>
          <p:cNvSpPr/>
          <p:nvPr/>
        </p:nvSpPr>
        <p:spPr>
          <a:xfrm>
            <a:off x="6309360" y="1600200"/>
            <a:ext cx="5330952" cy="4297680"/>
          </a:xfrm>
          <a:prstGeom prst="roundRect">
            <a:avLst>
              <a:gd name="adj" fmla="val 2553"/>
            </a:avLst>
          </a:prstGeom>
          <a:solidFill>
            <a:srgbClr val="F2F1F9"/>
          </a:solidFill>
          <a:ln w="12700">
            <a:solidFill>
              <a:srgbClr val="F2F1F9"/>
            </a:solidFill>
            <a:prstDash val="solid"/>
          </a:ln>
        </p:spPr>
        <p:txBody>
          <a:bodyPr/>
          <a:lstStyle/>
          <a:p>
            <a:endParaRPr lang="en-US"/>
          </a:p>
        </p:txBody>
      </p:sp>
      <p:sp>
        <p:nvSpPr>
          <p:cNvPr id="15" name="Text 13"/>
          <p:cNvSpPr txBox="1"/>
          <p:nvPr/>
        </p:nvSpPr>
        <p:spPr>
          <a:xfrm>
            <a:off x="6583680" y="1783080"/>
            <a:ext cx="4782312" cy="274320"/>
          </a:xfrm>
          <a:prstGeom prst="rect">
            <a:avLst/>
          </a:prstGeom>
          <a:noFill/>
          <a:ln/>
        </p:spPr>
        <p:txBody>
          <a:bodyPr wrap="square" lIns="0" tIns="0" rIns="0" bIns="0" rtlCol="0" anchor="ctr"/>
          <a:lstStyle/>
          <a:p>
            <a:pPr marL="0" indent="0">
              <a:buNone/>
            </a:pPr>
            <a:r>
              <a:rPr lang="en-US" sz="1100" b="1" kern="0" spc="300" dirty="0">
                <a:solidFill>
                  <a:srgbClr val="E31937"/>
                </a:solidFill>
                <a:latin typeface="Arial" pitchFamily="34" charset="0"/>
                <a:ea typeface="Arial" pitchFamily="34" charset="-122"/>
                <a:cs typeface="Arial" pitchFamily="34" charset="-120"/>
              </a:rPr>
              <a:t>PROMPT</a:t>
            </a:r>
            <a:endParaRPr lang="en-US" sz="1100" dirty="0"/>
          </a:p>
        </p:txBody>
      </p:sp>
      <p:sp>
        <p:nvSpPr>
          <p:cNvPr id="16" name="Text 14"/>
          <p:cNvSpPr txBox="1"/>
          <p:nvPr/>
        </p:nvSpPr>
        <p:spPr>
          <a:xfrm>
            <a:off x="6583680" y="2148840"/>
            <a:ext cx="4782312" cy="3566160"/>
          </a:xfrm>
          <a:prstGeom prst="rect">
            <a:avLst/>
          </a:prstGeom>
          <a:noFill/>
          <a:ln/>
        </p:spPr>
        <p:txBody>
          <a:bodyPr wrap="square" lIns="0" tIns="0" rIns="0" bIns="0" rtlCol="0" anchor="t"/>
          <a:lstStyle/>
          <a:p>
            <a:pPr marL="0" indent="0">
              <a:spcAft>
                <a:spcPts val="1000"/>
              </a:spcAft>
              <a:buNone/>
            </a:pPr>
            <a:r>
              <a:rPr lang="en-US" sz="1400" dirty="0">
                <a:solidFill>
                  <a:srgbClr val="151515"/>
                </a:solidFill>
                <a:latin typeface="Courier New" pitchFamily="34" charset="0"/>
                <a:ea typeface="Courier New" pitchFamily="34" charset="-122"/>
                <a:cs typeface="Courier New" pitchFamily="34" charset="-120"/>
              </a:rPr>
              <a:t>Use playwright-cli to look at Monday and Thursday apps, and build basic property-based testing with default properties for each, into folders Monday-test and Thursday-test. I want to use Bombadil for property-based testing https://antithesishq.github.io/bombadil/index.html</a:t>
            </a:r>
            <a:endParaRPr lang="en-US" sz="1400" dirty="0"/>
          </a:p>
          <a:p>
            <a:pPr marL="0" indent="0">
              <a:buNone/>
            </a:pPr>
            <a:r>
              <a:rPr lang="en-US" sz="1400" dirty="0">
                <a:solidFill>
                  <a:srgbClr val="151515"/>
                </a:solidFill>
                <a:latin typeface="Courier New" pitchFamily="34" charset="0"/>
                <a:ea typeface="Courier New" pitchFamily="34" charset="-122"/>
                <a:cs typeface="Courier New" pitchFamily="34" charset="-120"/>
              </a:rPr>
              <a:t>I want to be able to run Monday-test saying 'demo Monday' and Thursday-test by saying 'demo Thursday' on command line. Make my wish come true, like magic!</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85800" cy="685800"/>
          </a:xfrm>
          <a:prstGeom prst="ellipse">
            <a:avLst/>
          </a:prstGeom>
          <a:solidFill>
            <a:srgbClr val="E31937"/>
          </a:solidFill>
          <a:ln w="12700">
            <a:solidFill>
              <a:srgbClr val="E31937"/>
            </a:solidFill>
            <a:prstDash val="solid"/>
          </a:ln>
        </p:spPr>
        <p:txBody>
          <a:bodyPr/>
          <a:lstStyle/>
          <a:p>
            <a:endParaRPr lang="en-US"/>
          </a:p>
        </p:txBody>
      </p:sp>
      <p:sp>
        <p:nvSpPr>
          <p:cNvPr id="3" name="Text 1"/>
          <p:cNvSpPr txBox="1"/>
          <p:nvPr/>
        </p:nvSpPr>
        <p:spPr>
          <a:xfrm>
            <a:off x="548640" y="45720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4" name="Text 2"/>
          <p:cNvSpPr txBox="1"/>
          <p:nvPr/>
        </p:nvSpPr>
        <p:spPr>
          <a:xfrm>
            <a:off x="1463040" y="365760"/>
            <a:ext cx="10177272" cy="868680"/>
          </a:xfrm>
          <a:prstGeom prst="rect">
            <a:avLst/>
          </a:prstGeom>
          <a:noFill/>
          <a:ln/>
        </p:spPr>
        <p:txBody>
          <a:bodyPr wrap="square" lIns="0" tIns="0" rIns="0" bIns="0" rtlCol="0" anchor="ctr"/>
          <a:lstStyle/>
          <a:p>
            <a:pPr marL="0" indent="0">
              <a:buNone/>
            </a:pPr>
            <a:r>
              <a:rPr lang="en-US" sz="3200" b="1" dirty="0">
                <a:solidFill>
                  <a:srgbClr val="200A58"/>
                </a:solidFill>
                <a:latin typeface="Arial" pitchFamily="34" charset="0"/>
                <a:ea typeface="Arial" pitchFamily="34" charset="-122"/>
                <a:cs typeface="Arial" pitchFamily="34" charset="-120"/>
              </a:rPr>
              <a:t>Both versions pass. That is the point.</a:t>
            </a:r>
            <a:endParaRPr lang="en-US" sz="3200" dirty="0"/>
          </a:p>
        </p:txBody>
      </p:sp>
      <p:sp>
        <p:nvSpPr>
          <p:cNvPr id="5" name="Shape 3"/>
          <p:cNvSpPr/>
          <p:nvPr/>
        </p:nvSpPr>
        <p:spPr>
          <a:xfrm>
            <a:off x="548640" y="1600200"/>
            <a:ext cx="4206240" cy="1371600"/>
          </a:xfrm>
          <a:prstGeom prst="roundRect">
            <a:avLst>
              <a:gd name="adj" fmla="val 8000"/>
            </a:avLst>
          </a:prstGeom>
          <a:solidFill>
            <a:srgbClr val="200A58"/>
          </a:solidFill>
          <a:ln w="12700">
            <a:solidFill>
              <a:srgbClr val="200A58"/>
            </a:solidFill>
            <a:prstDash val="solid"/>
          </a:ln>
        </p:spPr>
        <p:txBody>
          <a:bodyPr/>
          <a:lstStyle/>
          <a:p>
            <a:endParaRPr lang="en-US"/>
          </a:p>
        </p:txBody>
      </p:sp>
      <p:sp>
        <p:nvSpPr>
          <p:cNvPr id="6" name="Text 4"/>
          <p:cNvSpPr txBox="1"/>
          <p:nvPr/>
        </p:nvSpPr>
        <p:spPr>
          <a:xfrm>
            <a:off x="822960" y="1737360"/>
            <a:ext cx="3657600" cy="1097280"/>
          </a:xfrm>
          <a:prstGeom prst="rect">
            <a:avLst/>
          </a:prstGeom>
          <a:noFill/>
          <a:ln/>
        </p:spPr>
        <p:txBody>
          <a:bodyPr wrap="square" lIns="0" tIns="0" rIns="0" bIns="0" rtlCol="0" anchor="ctr"/>
          <a:lstStyle/>
          <a:p>
            <a:pPr marL="0" indent="0">
              <a:buNone/>
            </a:pPr>
            <a:r>
              <a:rPr lang="en-US" sz="1600" b="1" dirty="0">
                <a:solidFill>
                  <a:srgbClr val="E31937"/>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demo Monday</a:t>
            </a:r>
            <a:endParaRPr lang="en-US" sz="1600" dirty="0"/>
          </a:p>
          <a:p>
            <a:pPr marL="0" indent="0">
              <a:buNone/>
            </a:pPr>
            <a:r>
              <a:rPr lang="en-US" sz="1600" b="1" dirty="0">
                <a:solidFill>
                  <a:srgbClr val="E31937"/>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demo Thursday</a:t>
            </a:r>
            <a:endParaRPr lang="en-US" sz="1600" dirty="0"/>
          </a:p>
        </p:txBody>
      </p:sp>
      <p:sp>
        <p:nvSpPr>
          <p:cNvPr id="7" name="Text 5"/>
          <p:cNvSpPr txBox="1"/>
          <p:nvPr/>
        </p:nvSpPr>
        <p:spPr>
          <a:xfrm>
            <a:off x="548640" y="3291840"/>
            <a:ext cx="4206240" cy="1188720"/>
          </a:xfrm>
          <a:prstGeom prst="rect">
            <a:avLst/>
          </a:prstGeom>
          <a:noFill/>
          <a:ln/>
        </p:spPr>
        <p:txBody>
          <a:bodyPr wrap="square" lIns="0" tIns="0" rIns="0" bIns="0" rtlCol="0" anchor="ctr"/>
          <a:lstStyle/>
          <a:p>
            <a:pPr marL="0" indent="0">
              <a:buNone/>
            </a:pPr>
            <a:r>
              <a:rPr lang="en-US" sz="6600" b="1" dirty="0">
                <a:solidFill>
                  <a:srgbClr val="5236AB"/>
                </a:solidFill>
                <a:latin typeface="Arial" pitchFamily="34" charset="0"/>
                <a:ea typeface="Arial" pitchFamily="34" charset="-122"/>
                <a:cs typeface="Arial" pitchFamily="34" charset="-120"/>
              </a:rPr>
              <a:t>60 s</a:t>
            </a:r>
            <a:endParaRPr lang="en-US" sz="6600" dirty="0"/>
          </a:p>
        </p:txBody>
      </p:sp>
      <p:sp>
        <p:nvSpPr>
          <p:cNvPr id="8" name="Text 6"/>
          <p:cNvSpPr txBox="1"/>
          <p:nvPr/>
        </p:nvSpPr>
        <p:spPr>
          <a:xfrm>
            <a:off x="548640" y="4526280"/>
            <a:ext cx="4206240" cy="731520"/>
          </a:xfrm>
          <a:prstGeom prst="rect">
            <a:avLst/>
          </a:prstGeom>
          <a:noFill/>
          <a:ln/>
        </p:spPr>
        <p:txBody>
          <a:bodyPr wrap="square" lIns="0" tIns="0" rIns="0" bIns="0" rtlCol="0" anchor="t"/>
          <a:lstStyle/>
          <a:p>
            <a:pPr marL="0" indent="0">
              <a:buNone/>
            </a:pPr>
            <a:r>
              <a:rPr lang="en-US" sz="1600" dirty="0">
                <a:solidFill>
                  <a:srgbClr val="5C5C5C"/>
                </a:solidFill>
                <a:latin typeface="Arial" pitchFamily="34" charset="0"/>
                <a:ea typeface="Arial" pitchFamily="34" charset="-122"/>
                <a:cs typeface="Arial" pitchFamily="34" charset="-120"/>
              </a:rPr>
              <a:t>Both run for a minute and both pass.</a:t>
            </a:r>
            <a:endParaRPr lang="en-US" sz="1600" dirty="0"/>
          </a:p>
        </p:txBody>
      </p:sp>
      <p:sp>
        <p:nvSpPr>
          <p:cNvPr id="9" name="Shape 7"/>
          <p:cNvSpPr/>
          <p:nvPr/>
        </p:nvSpPr>
        <p:spPr>
          <a:xfrm>
            <a:off x="5212080" y="1600200"/>
            <a:ext cx="6428232" cy="2103120"/>
          </a:xfrm>
          <a:prstGeom prst="roundRect">
            <a:avLst>
              <a:gd name="adj" fmla="val 5217"/>
            </a:avLst>
          </a:prstGeom>
          <a:solidFill>
            <a:srgbClr val="F2F1F9"/>
          </a:solidFill>
          <a:ln w="12700">
            <a:solidFill>
              <a:srgbClr val="F2F1F9"/>
            </a:solidFill>
            <a:prstDash val="solid"/>
          </a:ln>
        </p:spPr>
        <p:txBody>
          <a:bodyPr/>
          <a:lstStyle/>
          <a:p>
            <a:endParaRPr lang="en-US"/>
          </a:p>
        </p:txBody>
      </p:sp>
      <p:sp>
        <p:nvSpPr>
          <p:cNvPr id="10" name="Text 8"/>
          <p:cNvSpPr txBox="1"/>
          <p:nvPr/>
        </p:nvSpPr>
        <p:spPr>
          <a:xfrm>
            <a:off x="5486400" y="1783080"/>
            <a:ext cx="5879592" cy="457200"/>
          </a:xfrm>
          <a:prstGeom prst="rect">
            <a:avLst/>
          </a:prstGeom>
          <a:noFill/>
          <a:ln/>
        </p:spPr>
        <p:txBody>
          <a:bodyPr wrap="square" lIns="0" tIns="0" rIns="0" bIns="0" rtlCol="0" anchor="ctr"/>
          <a:lstStyle/>
          <a:p>
            <a:pPr marL="0" indent="0">
              <a:buNone/>
            </a:pPr>
            <a:r>
              <a:rPr lang="en-US" sz="2000" b="1" dirty="0">
                <a:solidFill>
                  <a:srgbClr val="5236AB"/>
                </a:solidFill>
                <a:latin typeface="Arial" pitchFamily="34" charset="0"/>
                <a:ea typeface="Arial" pitchFamily="34" charset="-122"/>
                <a:cs typeface="Arial" pitchFamily="34" charset="-120"/>
              </a:rPr>
              <a:t>Crashes, not broken ATM rules</a:t>
            </a:r>
            <a:endParaRPr lang="en-US" sz="2000" dirty="0"/>
          </a:p>
        </p:txBody>
      </p:sp>
      <p:sp>
        <p:nvSpPr>
          <p:cNvPr id="11" name="Text 9"/>
          <p:cNvSpPr txBox="1"/>
          <p:nvPr/>
        </p:nvSpPr>
        <p:spPr>
          <a:xfrm>
            <a:off x="5486400" y="2331720"/>
            <a:ext cx="5879592" cy="1188720"/>
          </a:xfrm>
          <a:prstGeom prst="rect">
            <a:avLst/>
          </a:prstGeom>
          <a:noFill/>
          <a:ln/>
        </p:spPr>
        <p:txBody>
          <a:bodyPr wrap="square" lIns="0" tIns="0" rIns="0" bIns="0" rtlCol="0" anchor="t"/>
          <a:lstStyle/>
          <a:p>
            <a:pPr marL="0" indent="0">
              <a:buNone/>
            </a:pPr>
            <a:r>
              <a:rPr lang="en-US" sz="1600" dirty="0">
                <a:solidFill>
                  <a:srgbClr val="151515"/>
                </a:solidFill>
                <a:latin typeface="Arial" pitchFamily="34" charset="0"/>
                <a:ea typeface="Arial" pitchFamily="34" charset="-122"/>
                <a:cs typeface="Arial" pitchFamily="34" charset="-120"/>
              </a:rPr>
              <a:t>The Monday version has real bugs, and the default properties do not see them. They catch crashes, not broken ATM rules.</a:t>
            </a:r>
            <a:endParaRPr lang="en-US" sz="1600" dirty="0"/>
          </a:p>
        </p:txBody>
      </p:sp>
      <p:sp>
        <p:nvSpPr>
          <p:cNvPr id="12" name="Shape 10"/>
          <p:cNvSpPr/>
          <p:nvPr/>
        </p:nvSpPr>
        <p:spPr>
          <a:xfrm>
            <a:off x="5212080" y="3977640"/>
            <a:ext cx="6428232" cy="2103120"/>
          </a:xfrm>
          <a:prstGeom prst="roundRect">
            <a:avLst>
              <a:gd name="adj" fmla="val 5217"/>
            </a:avLst>
          </a:prstGeom>
          <a:solidFill>
            <a:srgbClr val="F2F1F9"/>
          </a:solidFill>
          <a:ln w="12700">
            <a:solidFill>
              <a:srgbClr val="F2F1F9"/>
            </a:solidFill>
            <a:prstDash val="solid"/>
          </a:ln>
        </p:spPr>
        <p:txBody>
          <a:bodyPr/>
          <a:lstStyle/>
          <a:p>
            <a:endParaRPr lang="en-US"/>
          </a:p>
        </p:txBody>
      </p:sp>
      <p:sp>
        <p:nvSpPr>
          <p:cNvPr id="13" name="Text 11"/>
          <p:cNvSpPr txBox="1"/>
          <p:nvPr/>
        </p:nvSpPr>
        <p:spPr>
          <a:xfrm>
            <a:off x="5486400" y="4160520"/>
            <a:ext cx="5879592" cy="457200"/>
          </a:xfrm>
          <a:prstGeom prst="rect">
            <a:avLst/>
          </a:prstGeom>
          <a:noFill/>
          <a:ln/>
        </p:spPr>
        <p:txBody>
          <a:bodyPr wrap="square" lIns="0" tIns="0" rIns="0" bIns="0" rtlCol="0" anchor="ctr"/>
          <a:lstStyle/>
          <a:p>
            <a:pPr marL="0" indent="0">
              <a:buNone/>
            </a:pPr>
            <a:r>
              <a:rPr lang="en-US" sz="2000" b="1" dirty="0">
                <a:solidFill>
                  <a:srgbClr val="5236AB"/>
                </a:solidFill>
                <a:latin typeface="Arial" pitchFamily="34" charset="0"/>
                <a:ea typeface="Arial" pitchFamily="34" charset="-122"/>
                <a:cs typeface="Arial" pitchFamily="34" charset="-120"/>
              </a:rPr>
              <a:t>New tool, so…</a:t>
            </a:r>
            <a:endParaRPr lang="en-US" sz="2000" dirty="0"/>
          </a:p>
        </p:txBody>
      </p:sp>
      <p:sp>
        <p:nvSpPr>
          <p:cNvPr id="14" name="Text 12"/>
          <p:cNvSpPr txBox="1"/>
          <p:nvPr/>
        </p:nvSpPr>
        <p:spPr>
          <a:xfrm>
            <a:off x="5486400" y="4709160"/>
            <a:ext cx="5879592" cy="1188720"/>
          </a:xfrm>
          <a:prstGeom prst="rect">
            <a:avLst/>
          </a:prstGeom>
          <a:noFill/>
          <a:ln/>
        </p:spPr>
        <p:txBody>
          <a:bodyPr wrap="square" lIns="0" tIns="0" rIns="0" bIns="0" rtlCol="0" anchor="t"/>
          <a:lstStyle/>
          <a:p>
            <a:pPr marL="0" indent="0">
              <a:buNone/>
            </a:pPr>
            <a:r>
              <a:rPr lang="en-US" sz="1600" dirty="0">
                <a:solidFill>
                  <a:srgbClr val="151515"/>
                </a:solidFill>
                <a:latin typeface="Arial" pitchFamily="34" charset="0"/>
                <a:ea typeface="Arial" pitchFamily="34" charset="-122"/>
                <a:cs typeface="Arial" pitchFamily="34" charset="-120"/>
              </a:rPr>
              <a:t>The default typing action entered the letter “d” into number fields instead of digits, and runs sometimes stalled. The specs in Monday-test and Thursday-test work around both.</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85800" cy="685800"/>
          </a:xfrm>
          <a:prstGeom prst="ellipse">
            <a:avLst/>
          </a:prstGeom>
          <a:solidFill>
            <a:srgbClr val="E31937"/>
          </a:solidFill>
          <a:ln w="12700">
            <a:solidFill>
              <a:srgbClr val="E31937"/>
            </a:solidFill>
            <a:prstDash val="solid"/>
          </a:ln>
        </p:spPr>
        <p:txBody>
          <a:bodyPr/>
          <a:lstStyle/>
          <a:p>
            <a:endParaRPr lang="en-US"/>
          </a:p>
        </p:txBody>
      </p:sp>
      <p:sp>
        <p:nvSpPr>
          <p:cNvPr id="3" name="Text 1"/>
          <p:cNvSpPr txBox="1"/>
          <p:nvPr/>
        </p:nvSpPr>
        <p:spPr>
          <a:xfrm>
            <a:off x="548640" y="45720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5</a:t>
            </a:r>
            <a:endParaRPr lang="en-US" sz="2200" dirty="0"/>
          </a:p>
        </p:txBody>
      </p:sp>
      <p:sp>
        <p:nvSpPr>
          <p:cNvPr id="4" name="Text 2"/>
          <p:cNvSpPr txBox="1"/>
          <p:nvPr/>
        </p:nvSpPr>
        <p:spPr>
          <a:xfrm>
            <a:off x="1463040" y="365760"/>
            <a:ext cx="10177272" cy="868680"/>
          </a:xfrm>
          <a:prstGeom prst="rect">
            <a:avLst/>
          </a:prstGeom>
          <a:noFill/>
          <a:ln/>
        </p:spPr>
        <p:txBody>
          <a:bodyPr wrap="square" lIns="0" tIns="0" rIns="0" bIns="0" rtlCol="0" anchor="ctr"/>
          <a:lstStyle/>
          <a:p>
            <a:pPr marL="0" indent="0">
              <a:buNone/>
            </a:pPr>
            <a:r>
              <a:rPr lang="en-US" sz="3200" b="1" dirty="0">
                <a:solidFill>
                  <a:srgbClr val="200A58"/>
                </a:solidFill>
                <a:latin typeface="Arial" pitchFamily="34" charset="0"/>
                <a:ea typeface="Arial" pitchFamily="34" charset="-122"/>
                <a:cs typeface="Arial" pitchFamily="34" charset="-120"/>
              </a:rPr>
              <a:t>Demo: teaching the spec the domain</a:t>
            </a:r>
            <a:endParaRPr lang="en-US" sz="3200" dirty="0"/>
          </a:p>
        </p:txBody>
      </p:sp>
      <p:sp>
        <p:nvSpPr>
          <p:cNvPr id="5" name="Text 3"/>
          <p:cNvSpPr txBox="1"/>
          <p:nvPr/>
        </p:nvSpPr>
        <p:spPr>
          <a:xfrm>
            <a:off x="548640" y="1600200"/>
            <a:ext cx="11091672" cy="731520"/>
          </a:xfrm>
          <a:prstGeom prst="rect">
            <a:avLst/>
          </a:prstGeom>
          <a:noFill/>
          <a:ln/>
        </p:spPr>
        <p:txBody>
          <a:bodyPr wrap="square" lIns="0" tIns="0" rIns="0" bIns="0" rtlCol="0" anchor="t"/>
          <a:lstStyle/>
          <a:p>
            <a:pPr marL="0" indent="0">
              <a:buNone/>
            </a:pPr>
            <a:r>
              <a:rPr lang="en-US" sz="1700" dirty="0">
                <a:solidFill>
                  <a:srgbClr val="151515"/>
                </a:solidFill>
                <a:latin typeface="Arial" pitchFamily="34" charset="0"/>
                <a:ea typeface="Arial" pitchFamily="34" charset="-122"/>
                <a:cs typeface="Arial" pitchFamily="34" charset="-120"/>
              </a:rPr>
              <a:t>To test the rules of the ATM, the specification needs to know the domain. Four kinds of building blocks in </a:t>
            </a:r>
            <a:r>
              <a:rPr lang="en-US" sz="1700" b="1" dirty="0">
                <a:solidFill>
                  <a:srgbClr val="5236AB"/>
                </a:solidFill>
                <a:latin typeface="Courier New" pitchFamily="34" charset="0"/>
                <a:ea typeface="Courier New" pitchFamily="34" charset="-122"/>
                <a:cs typeface="Courier New" pitchFamily="34" charset="-120"/>
              </a:rPr>
              <a:t>Full-test/bombadil/specification.ts</a:t>
            </a:r>
            <a:endParaRPr lang="en-US" sz="1700" dirty="0"/>
          </a:p>
        </p:txBody>
      </p:sp>
      <p:sp>
        <p:nvSpPr>
          <p:cNvPr id="6" name="Shape 4"/>
          <p:cNvSpPr/>
          <p:nvPr/>
        </p:nvSpPr>
        <p:spPr>
          <a:xfrm>
            <a:off x="548640" y="2514600"/>
            <a:ext cx="5408676" cy="1737360"/>
          </a:xfrm>
          <a:prstGeom prst="roundRect">
            <a:avLst>
              <a:gd name="adj" fmla="val 6316"/>
            </a:avLst>
          </a:prstGeom>
          <a:solidFill>
            <a:srgbClr val="F2F1F9"/>
          </a:solidFill>
          <a:ln w="12700">
            <a:solidFill>
              <a:srgbClr val="F2F1F9"/>
            </a:solidFill>
            <a:prstDash val="solid"/>
          </a:ln>
        </p:spPr>
        <p:txBody>
          <a:bodyPr/>
          <a:lstStyle/>
          <a:p>
            <a:endParaRPr lang="en-US"/>
          </a:p>
        </p:txBody>
      </p:sp>
      <p:sp>
        <p:nvSpPr>
          <p:cNvPr id="7" name="Text 5"/>
          <p:cNvSpPr txBox="1"/>
          <p:nvPr/>
        </p:nvSpPr>
        <p:spPr>
          <a:xfrm>
            <a:off x="822960" y="2697480"/>
            <a:ext cx="4860036" cy="457200"/>
          </a:xfrm>
          <a:prstGeom prst="rect">
            <a:avLst/>
          </a:prstGeom>
          <a:noFill/>
          <a:ln/>
        </p:spPr>
        <p:txBody>
          <a:bodyPr wrap="square" lIns="0" tIns="0" rIns="0" bIns="0" rtlCol="0" anchor="ctr"/>
          <a:lstStyle/>
          <a:p>
            <a:pPr marL="0" indent="0">
              <a:buNone/>
            </a:pPr>
            <a:r>
              <a:rPr lang="en-US" sz="2000" b="1" dirty="0">
                <a:solidFill>
                  <a:srgbClr val="5236AB"/>
                </a:solidFill>
                <a:latin typeface="Arial" pitchFamily="34" charset="0"/>
                <a:ea typeface="Arial" pitchFamily="34" charset="-122"/>
                <a:cs typeface="Arial" pitchFamily="34" charset="-120"/>
              </a:rPr>
              <a:t>Helpers</a:t>
            </a:r>
            <a:endParaRPr lang="en-US" sz="2000" dirty="0"/>
          </a:p>
        </p:txBody>
      </p:sp>
      <p:sp>
        <p:nvSpPr>
          <p:cNvPr id="8" name="Text 6"/>
          <p:cNvSpPr txBox="1"/>
          <p:nvPr/>
        </p:nvSpPr>
        <p:spPr>
          <a:xfrm>
            <a:off x="822960" y="3246120"/>
            <a:ext cx="4860036" cy="822960"/>
          </a:xfrm>
          <a:prstGeom prst="rect">
            <a:avLst/>
          </a:prstGeom>
          <a:noFill/>
          <a:ln/>
        </p:spPr>
        <p:txBody>
          <a:bodyPr wrap="square" lIns="0" tIns="0" rIns="0" bIns="0" rtlCol="0" anchor="t"/>
          <a:lstStyle/>
          <a:p>
            <a:pPr marL="0" indent="0">
              <a:buNone/>
            </a:pPr>
            <a:r>
              <a:rPr lang="en-US" sz="1500" dirty="0">
                <a:solidFill>
                  <a:srgbClr val="151515"/>
                </a:solidFill>
                <a:latin typeface="Arial" pitchFamily="34" charset="0"/>
                <a:ea typeface="Arial" pitchFamily="34" charset="-122"/>
                <a:cs typeface="Arial" pitchFamily="34" charset="-120"/>
              </a:rPr>
              <a:t>Turn rendered text like “€1950” into numbers.</a:t>
            </a:r>
            <a:endParaRPr lang="en-US" sz="1500" dirty="0"/>
          </a:p>
        </p:txBody>
      </p:sp>
      <p:sp>
        <p:nvSpPr>
          <p:cNvPr id="9" name="Shape 7"/>
          <p:cNvSpPr/>
          <p:nvPr/>
        </p:nvSpPr>
        <p:spPr>
          <a:xfrm>
            <a:off x="6231636" y="2514600"/>
            <a:ext cx="5408676" cy="1737360"/>
          </a:xfrm>
          <a:prstGeom prst="roundRect">
            <a:avLst>
              <a:gd name="adj" fmla="val 6316"/>
            </a:avLst>
          </a:prstGeom>
          <a:solidFill>
            <a:srgbClr val="F2F1F9"/>
          </a:solidFill>
          <a:ln w="12700">
            <a:solidFill>
              <a:srgbClr val="F2F1F9"/>
            </a:solidFill>
            <a:prstDash val="solid"/>
          </a:ln>
        </p:spPr>
        <p:txBody>
          <a:bodyPr/>
          <a:lstStyle/>
          <a:p>
            <a:endParaRPr lang="en-US"/>
          </a:p>
        </p:txBody>
      </p:sp>
      <p:sp>
        <p:nvSpPr>
          <p:cNvPr id="10" name="Text 8"/>
          <p:cNvSpPr txBox="1"/>
          <p:nvPr/>
        </p:nvSpPr>
        <p:spPr>
          <a:xfrm>
            <a:off x="6505956" y="2697480"/>
            <a:ext cx="4860036" cy="457200"/>
          </a:xfrm>
          <a:prstGeom prst="rect">
            <a:avLst/>
          </a:prstGeom>
          <a:noFill/>
          <a:ln/>
        </p:spPr>
        <p:txBody>
          <a:bodyPr wrap="square" lIns="0" tIns="0" rIns="0" bIns="0" rtlCol="0" anchor="ctr"/>
          <a:lstStyle/>
          <a:p>
            <a:pPr marL="0" indent="0">
              <a:buNone/>
            </a:pPr>
            <a:r>
              <a:rPr lang="en-US" sz="2000" b="1" dirty="0">
                <a:solidFill>
                  <a:srgbClr val="5236AB"/>
                </a:solidFill>
                <a:latin typeface="Arial" pitchFamily="34" charset="0"/>
                <a:ea typeface="Arial" pitchFamily="34" charset="-122"/>
                <a:cs typeface="Arial" pitchFamily="34" charset="-120"/>
              </a:rPr>
              <a:t>State extractors</a:t>
            </a:r>
            <a:endParaRPr lang="en-US" sz="2000" dirty="0"/>
          </a:p>
        </p:txBody>
      </p:sp>
      <p:sp>
        <p:nvSpPr>
          <p:cNvPr id="11" name="Text 9"/>
          <p:cNvSpPr txBox="1"/>
          <p:nvPr/>
        </p:nvSpPr>
        <p:spPr>
          <a:xfrm>
            <a:off x="6505956" y="3246120"/>
            <a:ext cx="4860036" cy="822960"/>
          </a:xfrm>
          <a:prstGeom prst="rect">
            <a:avLst/>
          </a:prstGeom>
          <a:noFill/>
          <a:ln/>
        </p:spPr>
        <p:txBody>
          <a:bodyPr wrap="square" lIns="0" tIns="0" rIns="0" bIns="0" rtlCol="0" anchor="t"/>
          <a:lstStyle/>
          <a:p>
            <a:pPr marL="0" indent="0">
              <a:buNone/>
            </a:pPr>
            <a:r>
              <a:rPr lang="en-US" sz="1500" dirty="0">
                <a:solidFill>
                  <a:srgbClr val="151515"/>
                </a:solidFill>
                <a:latin typeface="Arial" pitchFamily="34" charset="0"/>
                <a:ea typeface="Arial" pitchFamily="34" charset="-122"/>
                <a:cs typeface="Arial" pitchFamily="34" charset="-120"/>
              </a:rPr>
              <a:t>Read balance, limits, bill counts and transaction history from the page in every state.</a:t>
            </a:r>
            <a:endParaRPr lang="en-US" sz="1500" dirty="0"/>
          </a:p>
        </p:txBody>
      </p:sp>
      <p:sp>
        <p:nvSpPr>
          <p:cNvPr id="12" name="Shape 10"/>
          <p:cNvSpPr/>
          <p:nvPr/>
        </p:nvSpPr>
        <p:spPr>
          <a:xfrm>
            <a:off x="548640" y="4526280"/>
            <a:ext cx="5408676" cy="1737360"/>
          </a:xfrm>
          <a:prstGeom prst="roundRect">
            <a:avLst>
              <a:gd name="adj" fmla="val 6316"/>
            </a:avLst>
          </a:prstGeom>
          <a:solidFill>
            <a:srgbClr val="F2F1F9"/>
          </a:solidFill>
          <a:ln w="12700">
            <a:solidFill>
              <a:srgbClr val="F2F1F9"/>
            </a:solidFill>
            <a:prstDash val="solid"/>
          </a:ln>
        </p:spPr>
        <p:txBody>
          <a:bodyPr/>
          <a:lstStyle/>
          <a:p>
            <a:endParaRPr lang="en-US"/>
          </a:p>
        </p:txBody>
      </p:sp>
      <p:sp>
        <p:nvSpPr>
          <p:cNvPr id="13" name="Text 11"/>
          <p:cNvSpPr txBox="1"/>
          <p:nvPr/>
        </p:nvSpPr>
        <p:spPr>
          <a:xfrm>
            <a:off x="822960" y="4709160"/>
            <a:ext cx="4860036" cy="457200"/>
          </a:xfrm>
          <a:prstGeom prst="rect">
            <a:avLst/>
          </a:prstGeom>
          <a:noFill/>
          <a:ln/>
        </p:spPr>
        <p:txBody>
          <a:bodyPr wrap="square" lIns="0" tIns="0" rIns="0" bIns="0" rtlCol="0" anchor="ctr"/>
          <a:lstStyle/>
          <a:p>
            <a:pPr marL="0" indent="0">
              <a:buNone/>
            </a:pPr>
            <a:r>
              <a:rPr lang="en-US" sz="2000" b="1" dirty="0">
                <a:solidFill>
                  <a:srgbClr val="5236AB"/>
                </a:solidFill>
                <a:latin typeface="Arial" pitchFamily="34" charset="0"/>
                <a:ea typeface="Arial" pitchFamily="34" charset="-122"/>
                <a:cs typeface="Arial" pitchFamily="34" charset="-120"/>
              </a:rPr>
              <a:t>Properties</a:t>
            </a:r>
            <a:endParaRPr lang="en-US" sz="2000" dirty="0"/>
          </a:p>
        </p:txBody>
      </p:sp>
      <p:sp>
        <p:nvSpPr>
          <p:cNvPr id="14" name="Text 12"/>
          <p:cNvSpPr txBox="1"/>
          <p:nvPr/>
        </p:nvSpPr>
        <p:spPr>
          <a:xfrm>
            <a:off x="822960" y="5257800"/>
            <a:ext cx="4860036" cy="822960"/>
          </a:xfrm>
          <a:prstGeom prst="rect">
            <a:avLst/>
          </a:prstGeom>
          <a:noFill/>
          <a:ln/>
        </p:spPr>
        <p:txBody>
          <a:bodyPr wrap="square" lIns="0" tIns="0" rIns="0" bIns="0" rtlCol="0" anchor="t"/>
          <a:lstStyle/>
          <a:p>
            <a:pPr marL="0" indent="0">
              <a:buNone/>
            </a:pPr>
            <a:r>
              <a:rPr lang="en-US" sz="1500" dirty="0">
                <a:solidFill>
                  <a:srgbClr val="151515"/>
                </a:solidFill>
                <a:latin typeface="Arial" pitchFamily="34" charset="0"/>
                <a:ea typeface="Arial" pitchFamily="34" charset="-122"/>
                <a:cs typeface="Arial" pitchFamily="34" charset="-120"/>
              </a:rPr>
              <a:t>The always-true statements, written over those extractors.</a:t>
            </a:r>
            <a:endParaRPr lang="en-US" sz="1500" dirty="0"/>
          </a:p>
        </p:txBody>
      </p:sp>
      <p:sp>
        <p:nvSpPr>
          <p:cNvPr id="15" name="Shape 13"/>
          <p:cNvSpPr/>
          <p:nvPr/>
        </p:nvSpPr>
        <p:spPr>
          <a:xfrm>
            <a:off x="6231636" y="4526280"/>
            <a:ext cx="5408676" cy="1737360"/>
          </a:xfrm>
          <a:prstGeom prst="roundRect">
            <a:avLst>
              <a:gd name="adj" fmla="val 6316"/>
            </a:avLst>
          </a:prstGeom>
          <a:solidFill>
            <a:srgbClr val="F2F1F9"/>
          </a:solidFill>
          <a:ln w="12700">
            <a:solidFill>
              <a:srgbClr val="F2F1F9"/>
            </a:solidFill>
            <a:prstDash val="solid"/>
          </a:ln>
        </p:spPr>
        <p:txBody>
          <a:bodyPr/>
          <a:lstStyle/>
          <a:p>
            <a:endParaRPr lang="en-US"/>
          </a:p>
        </p:txBody>
      </p:sp>
      <p:sp>
        <p:nvSpPr>
          <p:cNvPr id="16" name="Text 14"/>
          <p:cNvSpPr txBox="1"/>
          <p:nvPr/>
        </p:nvSpPr>
        <p:spPr>
          <a:xfrm>
            <a:off x="6505956" y="4709160"/>
            <a:ext cx="4860036" cy="457200"/>
          </a:xfrm>
          <a:prstGeom prst="rect">
            <a:avLst/>
          </a:prstGeom>
          <a:noFill/>
          <a:ln/>
        </p:spPr>
        <p:txBody>
          <a:bodyPr wrap="square" lIns="0" tIns="0" rIns="0" bIns="0" rtlCol="0" anchor="ctr"/>
          <a:lstStyle/>
          <a:p>
            <a:pPr marL="0" indent="0">
              <a:buNone/>
            </a:pPr>
            <a:r>
              <a:rPr lang="en-US" sz="2000" b="1" dirty="0">
                <a:solidFill>
                  <a:srgbClr val="5236AB"/>
                </a:solidFill>
                <a:latin typeface="Arial" pitchFamily="34" charset="0"/>
                <a:ea typeface="Arial" pitchFamily="34" charset="-122"/>
                <a:cs typeface="Arial" pitchFamily="34" charset="-120"/>
              </a:rPr>
              <a:t>Action generators</a:t>
            </a:r>
            <a:endParaRPr lang="en-US" sz="2000" dirty="0"/>
          </a:p>
        </p:txBody>
      </p:sp>
      <p:sp>
        <p:nvSpPr>
          <p:cNvPr id="17" name="Text 15"/>
          <p:cNvSpPr txBox="1"/>
          <p:nvPr/>
        </p:nvSpPr>
        <p:spPr>
          <a:xfrm>
            <a:off x="6505956" y="5257800"/>
            <a:ext cx="4860036" cy="822960"/>
          </a:xfrm>
          <a:prstGeom prst="rect">
            <a:avLst/>
          </a:prstGeom>
          <a:noFill/>
          <a:ln/>
        </p:spPr>
        <p:txBody>
          <a:bodyPr wrap="square" lIns="0" tIns="0" rIns="0" bIns="0" rtlCol="0" anchor="t"/>
          <a:lstStyle/>
          <a:p>
            <a:pPr marL="0" indent="0">
              <a:buNone/>
            </a:pPr>
            <a:r>
              <a:rPr lang="en-US" sz="1500" dirty="0">
                <a:solidFill>
                  <a:srgbClr val="151515"/>
                </a:solidFill>
                <a:latin typeface="Arial" pitchFamily="34" charset="0"/>
                <a:ea typeface="Arial" pitchFamily="34" charset="-122"/>
                <a:cs typeface="Arial" pitchFamily="34" charset="-120"/>
              </a:rPr>
              <a:t>Put real, boundary-hitting numbers into the fields (zero, one over the limit, fractional, negative), so the interesting rules are actually reached.</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85800" cy="685800"/>
          </a:xfrm>
          <a:prstGeom prst="ellipse">
            <a:avLst/>
          </a:prstGeom>
          <a:solidFill>
            <a:srgbClr val="E31937"/>
          </a:solidFill>
          <a:ln w="12700">
            <a:solidFill>
              <a:srgbClr val="E31937"/>
            </a:solidFill>
            <a:prstDash val="solid"/>
          </a:ln>
        </p:spPr>
        <p:txBody>
          <a:bodyPr/>
          <a:lstStyle/>
          <a:p>
            <a:endParaRPr lang="en-US"/>
          </a:p>
        </p:txBody>
      </p:sp>
      <p:sp>
        <p:nvSpPr>
          <p:cNvPr id="3" name="Text 1"/>
          <p:cNvSpPr txBox="1"/>
          <p:nvPr/>
        </p:nvSpPr>
        <p:spPr>
          <a:xfrm>
            <a:off x="548640" y="45720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6</a:t>
            </a:r>
            <a:endParaRPr lang="en-US" sz="2200" dirty="0"/>
          </a:p>
        </p:txBody>
      </p:sp>
      <p:sp>
        <p:nvSpPr>
          <p:cNvPr id="4" name="Text 2"/>
          <p:cNvSpPr txBox="1"/>
          <p:nvPr/>
        </p:nvSpPr>
        <p:spPr>
          <a:xfrm>
            <a:off x="1463040" y="365760"/>
            <a:ext cx="10177272" cy="868680"/>
          </a:xfrm>
          <a:prstGeom prst="rect">
            <a:avLst/>
          </a:prstGeom>
          <a:noFill/>
          <a:ln/>
        </p:spPr>
        <p:txBody>
          <a:bodyPr wrap="square" lIns="0" tIns="0" rIns="0" bIns="0" rtlCol="0" anchor="ctr"/>
          <a:lstStyle/>
          <a:p>
            <a:pPr marL="0" indent="0">
              <a:buNone/>
            </a:pPr>
            <a:r>
              <a:rPr lang="en-US" sz="3200" b="1" dirty="0">
                <a:solidFill>
                  <a:srgbClr val="200A58"/>
                </a:solidFill>
                <a:latin typeface="Arial" pitchFamily="34" charset="0"/>
                <a:ea typeface="Arial" pitchFamily="34" charset="-122"/>
                <a:cs typeface="Arial" pitchFamily="34" charset="-120"/>
              </a:rPr>
              <a:t>Demo: more properties</a:t>
            </a:r>
            <a:endParaRPr lang="en-US" sz="3200" dirty="0"/>
          </a:p>
        </p:txBody>
      </p:sp>
      <p:sp>
        <p:nvSpPr>
          <p:cNvPr id="5" name="Text 3"/>
          <p:cNvSpPr txBox="1"/>
          <p:nvPr/>
        </p:nvSpPr>
        <p:spPr>
          <a:xfrm>
            <a:off x="548640" y="1600200"/>
            <a:ext cx="4937760" cy="1371600"/>
          </a:xfrm>
          <a:prstGeom prst="rect">
            <a:avLst/>
          </a:prstGeom>
          <a:noFill/>
          <a:ln/>
        </p:spPr>
        <p:txBody>
          <a:bodyPr wrap="square" lIns="0" tIns="0" rIns="0" bIns="0" rtlCol="0" anchor="ctr"/>
          <a:lstStyle/>
          <a:p>
            <a:pPr marL="0" indent="0">
              <a:buNone/>
            </a:pPr>
            <a:r>
              <a:rPr lang="en-US" sz="9600" b="1" dirty="0">
                <a:solidFill>
                  <a:srgbClr val="E31937"/>
                </a:solidFill>
                <a:latin typeface="Arial" pitchFamily="34" charset="0"/>
                <a:ea typeface="Arial" pitchFamily="34" charset="-122"/>
                <a:cs typeface="Arial" pitchFamily="34" charset="-120"/>
              </a:rPr>
              <a:t>20</a:t>
            </a:r>
            <a:endParaRPr lang="en-US" sz="9600" dirty="0"/>
          </a:p>
        </p:txBody>
      </p:sp>
      <p:sp>
        <p:nvSpPr>
          <p:cNvPr id="6" name="Text 4"/>
          <p:cNvSpPr txBox="1"/>
          <p:nvPr/>
        </p:nvSpPr>
        <p:spPr>
          <a:xfrm>
            <a:off x="548640" y="3063240"/>
            <a:ext cx="4937760" cy="822960"/>
          </a:xfrm>
          <a:prstGeom prst="rect">
            <a:avLst/>
          </a:prstGeom>
          <a:noFill/>
          <a:ln/>
        </p:spPr>
        <p:txBody>
          <a:bodyPr wrap="square" lIns="0" tIns="0" rIns="0" bIns="0" rtlCol="0" anchor="t"/>
          <a:lstStyle/>
          <a:p>
            <a:pPr marL="0" indent="0">
              <a:buNone/>
            </a:pPr>
            <a:r>
              <a:rPr lang="en-US" sz="2000" b="1" dirty="0">
                <a:solidFill>
                  <a:srgbClr val="200A58"/>
                </a:solidFill>
                <a:latin typeface="Arial" pitchFamily="34" charset="0"/>
                <a:ea typeface="Arial" pitchFamily="34" charset="-122"/>
                <a:cs typeface="Arial" pitchFamily="34" charset="-120"/>
              </a:rPr>
              <a:t>more properties on top of the four defaults</a:t>
            </a:r>
            <a:endParaRPr lang="en-US" sz="2000" dirty="0"/>
          </a:p>
        </p:txBody>
      </p:sp>
      <p:sp>
        <p:nvSpPr>
          <p:cNvPr id="7" name="Text 5"/>
          <p:cNvSpPr txBox="1"/>
          <p:nvPr/>
        </p:nvSpPr>
        <p:spPr>
          <a:xfrm>
            <a:off x="548640" y="4023360"/>
            <a:ext cx="4937760" cy="2011680"/>
          </a:xfrm>
          <a:prstGeom prst="rect">
            <a:avLst/>
          </a:prstGeom>
          <a:noFill/>
          <a:ln/>
        </p:spPr>
        <p:txBody>
          <a:bodyPr wrap="square" lIns="0" tIns="0" rIns="0" bIns="0" rtlCol="0" anchor="t"/>
          <a:lstStyle/>
          <a:p>
            <a:pPr marL="0" indent="0">
              <a:spcAft>
                <a:spcPts val="1000"/>
              </a:spcAft>
              <a:buNone/>
            </a:pPr>
            <a:r>
              <a:rPr lang="en-US" sz="1600" dirty="0">
                <a:solidFill>
                  <a:srgbClr val="151515"/>
                </a:solidFill>
                <a:latin typeface="Arial" pitchFamily="34" charset="0"/>
                <a:ea typeface="Arial" pitchFamily="34" charset="-122"/>
                <a:cs typeface="Arial" pitchFamily="34" charset="-120"/>
              </a:rPr>
              <a:t>Produced by running the antithesis research skill on the app's source code.</a:t>
            </a:r>
            <a:endParaRPr lang="en-US" sz="1600" dirty="0"/>
          </a:p>
          <a:p>
            <a:pPr marL="0" indent="0">
              <a:buNone/>
            </a:pPr>
            <a:r>
              <a:rPr lang="en-US" sz="1600" dirty="0">
                <a:solidFill>
                  <a:srgbClr val="151515"/>
                </a:solidFill>
                <a:latin typeface="Arial" pitchFamily="34" charset="0"/>
                <a:ea typeface="Arial" pitchFamily="34" charset="-122"/>
                <a:cs typeface="Arial" pitchFamily="34" charset="-120"/>
              </a:rPr>
              <a:t>The list: </a:t>
            </a:r>
            <a:r>
              <a:rPr lang="en-US" sz="1600" b="1" dirty="0">
                <a:solidFill>
                  <a:srgbClr val="5236AB"/>
                </a:solidFill>
                <a:latin typeface="Courier New" pitchFamily="34" charset="0"/>
                <a:ea typeface="Courier New" pitchFamily="34" charset="-122"/>
                <a:cs typeface="Courier New" pitchFamily="34" charset="-120"/>
              </a:rPr>
              <a:t>Full-test/properties.txt</a:t>
            </a:r>
            <a:endParaRPr lang="en-US" sz="1600" dirty="0"/>
          </a:p>
          <a:p>
            <a:pPr marL="0" indent="0">
              <a:buNone/>
            </a:pPr>
            <a:r>
              <a:rPr lang="en-US" sz="1600" dirty="0">
                <a:solidFill>
                  <a:srgbClr val="151515"/>
                </a:solidFill>
                <a:latin typeface="Arial" pitchFamily="34" charset="0"/>
                <a:ea typeface="Arial" pitchFamily="34" charset="-122"/>
                <a:cs typeface="Arial" pitchFamily="34" charset="-120"/>
              </a:rPr>
              <a:t>The reasoning: </a:t>
            </a:r>
            <a:r>
              <a:rPr lang="en-US" sz="1600" b="1" dirty="0">
                <a:solidFill>
                  <a:srgbClr val="5236AB"/>
                </a:solidFill>
                <a:latin typeface="Courier New" pitchFamily="34" charset="0"/>
                <a:ea typeface="Courier New" pitchFamily="34" charset="-122"/>
                <a:cs typeface="Courier New" pitchFamily="34" charset="-120"/>
              </a:rPr>
              <a:t>Full-test/scratchbook/</a:t>
            </a:r>
            <a:endParaRPr lang="en-US" sz="1600" dirty="0"/>
          </a:p>
        </p:txBody>
      </p:sp>
      <p:sp>
        <p:nvSpPr>
          <p:cNvPr id="8" name="Shape 6"/>
          <p:cNvSpPr/>
          <p:nvPr/>
        </p:nvSpPr>
        <p:spPr>
          <a:xfrm>
            <a:off x="6309360" y="1600200"/>
            <a:ext cx="5330952" cy="2926080"/>
          </a:xfrm>
          <a:prstGeom prst="roundRect">
            <a:avLst>
              <a:gd name="adj" fmla="val 3750"/>
            </a:avLst>
          </a:prstGeom>
          <a:solidFill>
            <a:srgbClr val="F2F1F9"/>
          </a:solidFill>
          <a:ln w="12700">
            <a:solidFill>
              <a:srgbClr val="F2F1F9"/>
            </a:solidFill>
            <a:prstDash val="solid"/>
          </a:ln>
        </p:spPr>
        <p:txBody>
          <a:bodyPr/>
          <a:lstStyle/>
          <a:p>
            <a:endParaRPr lang="en-US"/>
          </a:p>
        </p:txBody>
      </p:sp>
      <p:sp>
        <p:nvSpPr>
          <p:cNvPr id="9" name="Text 7"/>
          <p:cNvSpPr txBox="1"/>
          <p:nvPr/>
        </p:nvSpPr>
        <p:spPr>
          <a:xfrm>
            <a:off x="6583680" y="1783080"/>
            <a:ext cx="4782312" cy="274320"/>
          </a:xfrm>
          <a:prstGeom prst="rect">
            <a:avLst/>
          </a:prstGeom>
          <a:noFill/>
          <a:ln/>
        </p:spPr>
        <p:txBody>
          <a:bodyPr wrap="square" lIns="0" tIns="0" rIns="0" bIns="0" rtlCol="0" anchor="ctr"/>
          <a:lstStyle/>
          <a:p>
            <a:pPr marL="0" indent="0">
              <a:buNone/>
            </a:pPr>
            <a:r>
              <a:rPr lang="en-US" sz="1100" b="1" kern="0" spc="300" dirty="0">
                <a:solidFill>
                  <a:srgbClr val="E31937"/>
                </a:solidFill>
                <a:latin typeface="Arial" pitchFamily="34" charset="0"/>
                <a:ea typeface="Arial" pitchFamily="34" charset="-122"/>
                <a:cs typeface="Arial" pitchFamily="34" charset="-120"/>
              </a:rPr>
              <a:t>PROMPT</a:t>
            </a:r>
            <a:endParaRPr lang="en-US" sz="1100" dirty="0"/>
          </a:p>
        </p:txBody>
      </p:sp>
      <p:sp>
        <p:nvSpPr>
          <p:cNvPr id="10" name="Text 8"/>
          <p:cNvSpPr txBox="1"/>
          <p:nvPr/>
        </p:nvSpPr>
        <p:spPr>
          <a:xfrm>
            <a:off x="6583680" y="2148840"/>
            <a:ext cx="4782312" cy="2194560"/>
          </a:xfrm>
          <a:prstGeom prst="rect">
            <a:avLst/>
          </a:prstGeom>
          <a:noFill/>
          <a:ln/>
        </p:spPr>
        <p:txBody>
          <a:bodyPr wrap="square" lIns="0" tIns="0" rIns="0" bIns="0" rtlCol="0" anchor="t"/>
          <a:lstStyle/>
          <a:p>
            <a:pPr marL="0" indent="0">
              <a:spcAft>
                <a:spcPts val="1000"/>
              </a:spcAft>
              <a:buNone/>
            </a:pPr>
            <a:r>
              <a:rPr lang="en-US" sz="1400" dirty="0">
                <a:solidFill>
                  <a:srgbClr val="151515"/>
                </a:solidFill>
                <a:latin typeface="Courier New" pitchFamily="34" charset="0"/>
                <a:ea typeface="Courier New" pitchFamily="34" charset="-122"/>
                <a:cs typeface="Courier New" pitchFamily="34" charset="-120"/>
              </a:rPr>
              <a:t>Bring in antithesis research skill, and use that to identify properties. Or in this case, use what I already created on this on Monday.</a:t>
            </a:r>
            <a:endParaRPr lang="en-US" sz="1400" dirty="0"/>
          </a:p>
          <a:p>
            <a:pPr marL="0" indent="0">
              <a:buNone/>
            </a:pPr>
            <a:r>
              <a:rPr lang="en-US" sz="1400" dirty="0">
                <a:solidFill>
                  <a:srgbClr val="151515"/>
                </a:solidFill>
                <a:latin typeface="Courier New" pitchFamily="34" charset="0"/>
                <a:ea typeface="Courier New" pitchFamily="34" charset="-122"/>
                <a:cs typeface="Courier New" pitchFamily="34" charset="-120"/>
              </a:rPr>
              <a:t>There's also project here called exploring-bombadil, with full set of tests. Bring those here under Full-test folder. Now, I want to say 'magic Monday' to run this test for 60 seconds on Monday version, and 'magic Thursday' on the Monday version.</a:t>
            </a:r>
            <a:endParaRPr lang="en-US" sz="1400" dirty="0"/>
          </a:p>
        </p:txBody>
      </p:sp>
      <p:sp>
        <p:nvSpPr>
          <p:cNvPr id="11" name="Shape 9"/>
          <p:cNvSpPr/>
          <p:nvPr/>
        </p:nvSpPr>
        <p:spPr>
          <a:xfrm>
            <a:off x="6309360" y="4754880"/>
            <a:ext cx="5330952" cy="1325880"/>
          </a:xfrm>
          <a:prstGeom prst="roundRect">
            <a:avLst>
              <a:gd name="adj" fmla="val 8276"/>
            </a:avLst>
          </a:prstGeom>
          <a:solidFill>
            <a:srgbClr val="200A58"/>
          </a:solidFill>
          <a:ln w="12700">
            <a:solidFill>
              <a:srgbClr val="200A58"/>
            </a:solidFill>
            <a:prstDash val="solid"/>
          </a:ln>
        </p:spPr>
        <p:txBody>
          <a:bodyPr/>
          <a:lstStyle/>
          <a:p>
            <a:endParaRPr lang="en-US"/>
          </a:p>
        </p:txBody>
      </p:sp>
      <p:sp>
        <p:nvSpPr>
          <p:cNvPr id="12" name="Text 10"/>
          <p:cNvSpPr txBox="1"/>
          <p:nvPr/>
        </p:nvSpPr>
        <p:spPr>
          <a:xfrm>
            <a:off x="6583680" y="4892040"/>
            <a:ext cx="4782312" cy="1051560"/>
          </a:xfrm>
          <a:prstGeom prst="rect">
            <a:avLst/>
          </a:prstGeom>
          <a:noFill/>
          <a:ln/>
        </p:spPr>
        <p:txBody>
          <a:bodyPr wrap="square" lIns="0" tIns="0" rIns="0" bIns="0" rtlCol="0" anchor="ctr"/>
          <a:lstStyle/>
          <a:p>
            <a:pPr marL="0" indent="0">
              <a:buNone/>
            </a:pPr>
            <a:r>
              <a:rPr lang="en-US" sz="1600" b="1" dirty="0">
                <a:solidFill>
                  <a:srgbClr val="E31937"/>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magic Monday</a:t>
            </a:r>
            <a:endParaRPr lang="en-US" sz="1600" dirty="0"/>
          </a:p>
          <a:p>
            <a:pPr marL="0" indent="0">
              <a:buNone/>
            </a:pPr>
            <a:r>
              <a:rPr lang="en-US" sz="1600" b="1" dirty="0">
                <a:solidFill>
                  <a:srgbClr val="E31937"/>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magic Thursday</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85800" cy="685800"/>
          </a:xfrm>
          <a:prstGeom prst="ellipse">
            <a:avLst/>
          </a:prstGeom>
          <a:solidFill>
            <a:srgbClr val="E31937"/>
          </a:solidFill>
          <a:ln w="12700">
            <a:solidFill>
              <a:srgbClr val="E31937"/>
            </a:solidFill>
            <a:prstDash val="solid"/>
          </a:ln>
        </p:spPr>
        <p:txBody>
          <a:bodyPr/>
          <a:lstStyle/>
          <a:p>
            <a:endParaRPr lang="en-US"/>
          </a:p>
        </p:txBody>
      </p:sp>
      <p:sp>
        <p:nvSpPr>
          <p:cNvPr id="3" name="Text 1"/>
          <p:cNvSpPr txBox="1"/>
          <p:nvPr/>
        </p:nvSpPr>
        <p:spPr>
          <a:xfrm>
            <a:off x="548640" y="45720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6</a:t>
            </a:r>
            <a:endParaRPr lang="en-US" sz="2200" dirty="0"/>
          </a:p>
        </p:txBody>
      </p:sp>
      <p:sp>
        <p:nvSpPr>
          <p:cNvPr id="4" name="Text 2"/>
          <p:cNvSpPr txBox="1"/>
          <p:nvPr/>
        </p:nvSpPr>
        <p:spPr>
          <a:xfrm>
            <a:off x="1463040" y="365760"/>
            <a:ext cx="10177272" cy="868680"/>
          </a:xfrm>
          <a:prstGeom prst="rect">
            <a:avLst/>
          </a:prstGeom>
          <a:noFill/>
          <a:ln/>
        </p:spPr>
        <p:txBody>
          <a:bodyPr wrap="square" lIns="0" tIns="0" rIns="0" bIns="0" rtlCol="0" anchor="ctr"/>
          <a:lstStyle/>
          <a:p>
            <a:pPr marL="0" indent="0">
              <a:buNone/>
            </a:pPr>
            <a:r>
              <a:rPr lang="en-US" sz="3200" b="1" dirty="0">
                <a:solidFill>
                  <a:srgbClr val="200A58"/>
                </a:solidFill>
                <a:latin typeface="Arial" pitchFamily="34" charset="0"/>
                <a:ea typeface="Arial" pitchFamily="34" charset="-122"/>
                <a:cs typeface="Arial" pitchFamily="34" charset="-120"/>
              </a:rPr>
              <a:t>Monday stops in seconds, Thursday holds</a:t>
            </a:r>
            <a:endParaRPr lang="en-US" sz="3200" dirty="0"/>
          </a:p>
        </p:txBody>
      </p:sp>
      <p:sp>
        <p:nvSpPr>
          <p:cNvPr id="5" name="Shape 3"/>
          <p:cNvSpPr/>
          <p:nvPr/>
        </p:nvSpPr>
        <p:spPr>
          <a:xfrm>
            <a:off x="548640" y="1600200"/>
            <a:ext cx="5362956" cy="2743200"/>
          </a:xfrm>
          <a:prstGeom prst="roundRect">
            <a:avLst>
              <a:gd name="adj" fmla="val 4000"/>
            </a:avLst>
          </a:prstGeom>
          <a:solidFill>
            <a:srgbClr val="E31937"/>
          </a:solidFill>
          <a:ln w="12700">
            <a:solidFill>
              <a:srgbClr val="E31937"/>
            </a:solidFill>
            <a:prstDash val="solid"/>
          </a:ln>
        </p:spPr>
        <p:txBody>
          <a:bodyPr/>
          <a:lstStyle/>
          <a:p>
            <a:endParaRPr lang="en-US"/>
          </a:p>
        </p:txBody>
      </p:sp>
      <p:sp>
        <p:nvSpPr>
          <p:cNvPr id="6" name="Text 4"/>
          <p:cNvSpPr txBox="1"/>
          <p:nvPr/>
        </p:nvSpPr>
        <p:spPr>
          <a:xfrm>
            <a:off x="822960" y="1783080"/>
            <a:ext cx="4814316" cy="457200"/>
          </a:xfrm>
          <a:prstGeom prst="rect">
            <a:avLst/>
          </a:prstGeom>
          <a:noFill/>
          <a:ln/>
        </p:spPr>
        <p:txBody>
          <a:bodyPr wrap="square" lIns="0" tIns="0" rIns="0" bIns="0" rtlCol="0" anchor="ctr"/>
          <a:lstStyle/>
          <a:p>
            <a:pPr marL="0" indent="0">
              <a:buNone/>
            </a:pPr>
            <a:r>
              <a:rPr lang="en-US" sz="2000" b="1" dirty="0">
                <a:solidFill>
                  <a:srgbClr val="FFFFFF"/>
                </a:solidFill>
                <a:latin typeface="Courier New" pitchFamily="34" charset="0"/>
                <a:ea typeface="Courier New" pitchFamily="34" charset="-122"/>
                <a:cs typeface="Courier New" pitchFamily="34" charset="-120"/>
              </a:rPr>
              <a:t>magic Monday</a:t>
            </a:r>
            <a:endParaRPr lang="en-US" sz="2000" dirty="0"/>
          </a:p>
        </p:txBody>
      </p:sp>
      <p:sp>
        <p:nvSpPr>
          <p:cNvPr id="7" name="Text 5"/>
          <p:cNvSpPr txBox="1"/>
          <p:nvPr/>
        </p:nvSpPr>
        <p:spPr>
          <a:xfrm>
            <a:off x="822960" y="2331720"/>
            <a:ext cx="4814316" cy="1828800"/>
          </a:xfrm>
          <a:prstGeom prst="rect">
            <a:avLst/>
          </a:prstGeom>
          <a:noFill/>
          <a:ln/>
        </p:spPr>
        <p:txBody>
          <a:bodyPr wrap="square" lIns="0" tIns="0" rIns="0" bIns="0" rtlCol="0" anchor="t"/>
          <a:lstStyle/>
          <a:p>
            <a:pPr marL="0" indent="0">
              <a:spcAft>
                <a:spcPts val="800"/>
              </a:spcAft>
              <a:buNone/>
            </a:pPr>
            <a:r>
              <a:rPr lang="en-US" sz="1500" dirty="0">
                <a:solidFill>
                  <a:srgbClr val="FFFFFF"/>
                </a:solidFill>
                <a:latin typeface="Arial" pitchFamily="34" charset="0"/>
                <a:ea typeface="Arial" pitchFamily="34" charset="-122"/>
                <a:cs typeface="Arial" pitchFamily="34" charset="-120"/>
              </a:rPr>
              <a:t>Stops within a second or two. Typing more into “Withdrawn at other ATMs” than the account's daily limit allows violates:</a:t>
            </a:r>
            <a:endParaRPr lang="en-US" sz="1500" dirty="0"/>
          </a:p>
          <a:p>
            <a:pPr marL="0" indent="0">
              <a:buNone/>
            </a:pPr>
            <a:r>
              <a:rPr lang="en-US" sz="1300" b="1" dirty="0">
                <a:solidFill>
                  <a:srgbClr val="FFFFFF"/>
                </a:solidFill>
                <a:latin typeface="Courier New" pitchFamily="34" charset="0"/>
                <a:ea typeface="Courier New" pitchFamily="34" charset="-122"/>
                <a:cs typeface="Courier New" pitchFamily="34" charset="-120"/>
              </a:rPr>
              <a:t>accountWithdrawalsRespectAccountLimit</a:t>
            </a:r>
            <a:endParaRPr lang="en-US" sz="1500" dirty="0"/>
          </a:p>
          <a:p>
            <a:pPr marL="0" indent="0">
              <a:buNone/>
            </a:pPr>
            <a:r>
              <a:rPr lang="en-US" sz="1300" b="1" dirty="0">
                <a:solidFill>
                  <a:srgbClr val="FFFFFF"/>
                </a:solidFill>
                <a:latin typeface="Courier New" pitchFamily="34" charset="0"/>
                <a:ea typeface="Courier New" pitchFamily="34" charset="-122"/>
                <a:cs typeface="Courier New" pitchFamily="34" charset="-120"/>
              </a:rPr>
              <a:t>withdrawnElsewhereNeverExceedsAccountLimit</a:t>
            </a:r>
            <a:endParaRPr lang="en-US" sz="1500" dirty="0"/>
          </a:p>
        </p:txBody>
      </p:sp>
      <p:sp>
        <p:nvSpPr>
          <p:cNvPr id="8" name="Shape 6"/>
          <p:cNvSpPr/>
          <p:nvPr/>
        </p:nvSpPr>
        <p:spPr>
          <a:xfrm>
            <a:off x="6277356" y="1600200"/>
            <a:ext cx="5362956" cy="2743200"/>
          </a:xfrm>
          <a:prstGeom prst="roundRect">
            <a:avLst>
              <a:gd name="adj" fmla="val 4000"/>
            </a:avLst>
          </a:prstGeom>
          <a:solidFill>
            <a:srgbClr val="5236AB"/>
          </a:solidFill>
          <a:ln w="12700">
            <a:solidFill>
              <a:srgbClr val="5236AB"/>
            </a:solidFill>
            <a:prstDash val="solid"/>
          </a:ln>
        </p:spPr>
        <p:txBody>
          <a:bodyPr/>
          <a:lstStyle/>
          <a:p>
            <a:endParaRPr lang="en-US"/>
          </a:p>
        </p:txBody>
      </p:sp>
      <p:sp>
        <p:nvSpPr>
          <p:cNvPr id="9" name="Text 7"/>
          <p:cNvSpPr txBox="1"/>
          <p:nvPr/>
        </p:nvSpPr>
        <p:spPr>
          <a:xfrm>
            <a:off x="6551676" y="1783080"/>
            <a:ext cx="4814316" cy="457200"/>
          </a:xfrm>
          <a:prstGeom prst="rect">
            <a:avLst/>
          </a:prstGeom>
          <a:noFill/>
          <a:ln/>
        </p:spPr>
        <p:txBody>
          <a:bodyPr wrap="square" lIns="0" tIns="0" rIns="0" bIns="0" rtlCol="0" anchor="ctr"/>
          <a:lstStyle/>
          <a:p>
            <a:pPr marL="0" indent="0">
              <a:buNone/>
            </a:pPr>
            <a:r>
              <a:rPr lang="en-US" sz="2000" b="1" dirty="0">
                <a:solidFill>
                  <a:srgbClr val="FFFFFF"/>
                </a:solidFill>
                <a:latin typeface="Courier New" pitchFamily="34" charset="0"/>
                <a:ea typeface="Courier New" pitchFamily="34" charset="-122"/>
                <a:cs typeface="Courier New" pitchFamily="34" charset="-120"/>
              </a:rPr>
              <a:t>magic Thursday</a:t>
            </a:r>
            <a:endParaRPr lang="en-US" sz="2000" dirty="0"/>
          </a:p>
        </p:txBody>
      </p:sp>
      <p:sp>
        <p:nvSpPr>
          <p:cNvPr id="10" name="Text 8"/>
          <p:cNvSpPr txBox="1"/>
          <p:nvPr/>
        </p:nvSpPr>
        <p:spPr>
          <a:xfrm>
            <a:off x="6551676" y="2331720"/>
            <a:ext cx="4814316" cy="1828800"/>
          </a:xfrm>
          <a:prstGeom prst="rect">
            <a:avLst/>
          </a:prstGeom>
          <a:noFill/>
          <a:ln/>
        </p:spPr>
        <p:txBody>
          <a:bodyPr wrap="square" lIns="0" tIns="0" rIns="0" bIns="0" rtlCol="0" anchor="t"/>
          <a:lstStyle/>
          <a:p>
            <a:pPr marL="0" indent="0">
              <a:buNone/>
            </a:pPr>
            <a:r>
              <a:rPr lang="en-US" sz="1800" dirty="0">
                <a:solidFill>
                  <a:srgbClr val="FFFFFF"/>
                </a:solidFill>
                <a:latin typeface="Arial" pitchFamily="34" charset="0"/>
                <a:ea typeface="Arial" pitchFamily="34" charset="-122"/>
                <a:cs typeface="Arial" pitchFamily="34" charset="-120"/>
              </a:rPr>
              <a:t>Runs the full 60 seconds with no violations.</a:t>
            </a:r>
            <a:endParaRPr lang="en-US" sz="1800" dirty="0"/>
          </a:p>
        </p:txBody>
      </p:sp>
      <p:sp>
        <p:nvSpPr>
          <p:cNvPr id="11" name="Text 9"/>
          <p:cNvSpPr txBox="1"/>
          <p:nvPr/>
        </p:nvSpPr>
        <p:spPr>
          <a:xfrm>
            <a:off x="548640" y="4709160"/>
            <a:ext cx="4206240" cy="1371600"/>
          </a:xfrm>
          <a:prstGeom prst="rect">
            <a:avLst/>
          </a:prstGeom>
          <a:noFill/>
          <a:ln/>
        </p:spPr>
        <p:txBody>
          <a:bodyPr wrap="square" lIns="0" tIns="0" rIns="0" bIns="0" rtlCol="0" anchor="ctr"/>
          <a:lstStyle/>
          <a:p>
            <a:pPr marL="0" indent="0">
              <a:buNone/>
            </a:pPr>
            <a:r>
              <a:rPr lang="en-US" sz="1700" b="1" dirty="0">
                <a:solidFill>
                  <a:srgbClr val="200A58"/>
                </a:solidFill>
                <a:latin typeface="Arial" pitchFamily="34" charset="0"/>
                <a:ea typeface="Arial" pitchFamily="34" charset="-122"/>
                <a:cs typeface="Arial" pitchFamily="34" charset="-120"/>
              </a:rPr>
              <a:t>To look at what happened, state by state:</a:t>
            </a:r>
            <a:endParaRPr lang="en-US" sz="1700" dirty="0"/>
          </a:p>
        </p:txBody>
      </p:sp>
      <p:sp>
        <p:nvSpPr>
          <p:cNvPr id="12" name="Shape 10"/>
          <p:cNvSpPr/>
          <p:nvPr/>
        </p:nvSpPr>
        <p:spPr>
          <a:xfrm>
            <a:off x="6277356" y="4709160"/>
            <a:ext cx="5362956" cy="1371600"/>
          </a:xfrm>
          <a:prstGeom prst="roundRect">
            <a:avLst>
              <a:gd name="adj" fmla="val 8000"/>
            </a:avLst>
          </a:prstGeom>
          <a:solidFill>
            <a:srgbClr val="200A58"/>
          </a:solidFill>
          <a:ln w="12700">
            <a:solidFill>
              <a:srgbClr val="200A58"/>
            </a:solidFill>
            <a:prstDash val="solid"/>
          </a:ln>
        </p:spPr>
        <p:txBody>
          <a:bodyPr/>
          <a:lstStyle/>
          <a:p>
            <a:endParaRPr lang="en-US"/>
          </a:p>
        </p:txBody>
      </p:sp>
      <p:sp>
        <p:nvSpPr>
          <p:cNvPr id="13" name="Text 11"/>
          <p:cNvSpPr txBox="1"/>
          <p:nvPr/>
        </p:nvSpPr>
        <p:spPr>
          <a:xfrm>
            <a:off x="6551676" y="4846320"/>
            <a:ext cx="4814316" cy="1097280"/>
          </a:xfrm>
          <a:prstGeom prst="rect">
            <a:avLst/>
          </a:prstGeom>
          <a:noFill/>
          <a:ln/>
        </p:spPr>
        <p:txBody>
          <a:bodyPr wrap="square" lIns="0" tIns="0" rIns="0" bIns="0" rtlCol="0" anchor="ctr"/>
          <a:lstStyle/>
          <a:p>
            <a:pPr marL="0" indent="0">
              <a:buNone/>
            </a:pPr>
            <a:r>
              <a:rPr lang="en-US" sz="1600" b="1" dirty="0">
                <a:solidFill>
                  <a:srgbClr val="E31937"/>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cd Full-test</a:t>
            </a:r>
            <a:endParaRPr lang="en-US" sz="1600" dirty="0"/>
          </a:p>
          <a:p>
            <a:pPr marL="0" indent="0">
              <a:buNone/>
            </a:pPr>
            <a:r>
              <a:rPr lang="en-US" sz="1600" b="1" dirty="0">
                <a:solidFill>
                  <a:srgbClr val="E31937"/>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npm run inspect:monday</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85800" cy="685800"/>
          </a:xfrm>
          <a:prstGeom prst="ellipse">
            <a:avLst/>
          </a:prstGeom>
          <a:solidFill>
            <a:srgbClr val="E31937"/>
          </a:solidFill>
          <a:ln w="12700">
            <a:solidFill>
              <a:srgbClr val="E31937"/>
            </a:solidFill>
            <a:prstDash val="solid"/>
          </a:ln>
        </p:spPr>
        <p:txBody>
          <a:bodyPr/>
          <a:lstStyle/>
          <a:p>
            <a:endParaRPr lang="en-US"/>
          </a:p>
        </p:txBody>
      </p:sp>
      <p:sp>
        <p:nvSpPr>
          <p:cNvPr id="3" name="Text 1"/>
          <p:cNvSpPr txBox="1"/>
          <p:nvPr/>
        </p:nvSpPr>
        <p:spPr>
          <a:xfrm>
            <a:off x="548640" y="45720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7</a:t>
            </a:r>
            <a:endParaRPr lang="en-US" sz="2200" dirty="0"/>
          </a:p>
        </p:txBody>
      </p:sp>
      <p:sp>
        <p:nvSpPr>
          <p:cNvPr id="4" name="Text 2"/>
          <p:cNvSpPr txBox="1"/>
          <p:nvPr/>
        </p:nvSpPr>
        <p:spPr>
          <a:xfrm>
            <a:off x="1463040" y="365760"/>
            <a:ext cx="10177272" cy="868680"/>
          </a:xfrm>
          <a:prstGeom prst="rect">
            <a:avLst/>
          </a:prstGeom>
          <a:noFill/>
          <a:ln/>
        </p:spPr>
        <p:txBody>
          <a:bodyPr wrap="square" lIns="0" tIns="0" rIns="0" bIns="0" rtlCol="0" anchor="ctr"/>
          <a:lstStyle/>
          <a:p>
            <a:pPr marL="0" indent="0">
              <a:buNone/>
            </a:pPr>
            <a:r>
              <a:rPr lang="en-US" sz="3200" b="1" dirty="0">
                <a:solidFill>
                  <a:srgbClr val="200A58"/>
                </a:solidFill>
                <a:latin typeface="Arial" pitchFamily="34" charset="0"/>
                <a:ea typeface="Arial" pitchFamily="34" charset="-122"/>
                <a:cs typeface="Arial" pitchFamily="34" charset="-120"/>
              </a:rPr>
              <a:t>Demo: properties on Playwright</a:t>
            </a:r>
            <a:endParaRPr lang="en-US" sz="3200" dirty="0"/>
          </a:p>
        </p:txBody>
      </p:sp>
      <p:sp>
        <p:nvSpPr>
          <p:cNvPr id="5" name="Text 3"/>
          <p:cNvSpPr txBox="1"/>
          <p:nvPr/>
        </p:nvSpPr>
        <p:spPr>
          <a:xfrm>
            <a:off x="548640" y="1600200"/>
            <a:ext cx="11091672" cy="822960"/>
          </a:xfrm>
          <a:prstGeom prst="rect">
            <a:avLst/>
          </a:prstGeom>
          <a:noFill/>
          <a:ln/>
        </p:spPr>
        <p:txBody>
          <a:bodyPr wrap="square" lIns="0" tIns="0" rIns="0" bIns="0" rtlCol="0" anchor="t"/>
          <a:lstStyle/>
          <a:p>
            <a:pPr marL="0" indent="0">
              <a:buNone/>
            </a:pPr>
            <a:r>
              <a:rPr lang="en-US" sz="1600" dirty="0">
                <a:solidFill>
                  <a:srgbClr val="151515"/>
                </a:solidFill>
                <a:latin typeface="Arial" pitchFamily="34" charset="0"/>
                <a:ea typeface="Arial" pitchFamily="34" charset="-122"/>
                <a:cs typeface="Arial" pitchFamily="34" charset="-120"/>
              </a:rPr>
              <a:t>Properties mix with old tools too! The same property names, checked by one Playwright test that takes a seeded random walk through the app and checks the properties after every step.</a:t>
            </a:r>
            <a:endParaRPr lang="en-US" sz="1600" dirty="0"/>
          </a:p>
        </p:txBody>
      </p:sp>
      <p:sp>
        <p:nvSpPr>
          <p:cNvPr id="6" name="Shape 4"/>
          <p:cNvSpPr/>
          <p:nvPr/>
        </p:nvSpPr>
        <p:spPr>
          <a:xfrm>
            <a:off x="548640" y="2606040"/>
            <a:ext cx="5394960" cy="2286000"/>
          </a:xfrm>
          <a:prstGeom prst="roundRect">
            <a:avLst>
              <a:gd name="adj" fmla="val 4800"/>
            </a:avLst>
          </a:prstGeom>
          <a:solidFill>
            <a:srgbClr val="F2F1F9"/>
          </a:solidFill>
          <a:ln w="12700">
            <a:solidFill>
              <a:srgbClr val="F2F1F9"/>
            </a:solidFill>
            <a:prstDash val="solid"/>
          </a:ln>
        </p:spPr>
        <p:txBody>
          <a:bodyPr/>
          <a:lstStyle/>
          <a:p>
            <a:endParaRPr lang="en-US"/>
          </a:p>
        </p:txBody>
      </p:sp>
      <p:sp>
        <p:nvSpPr>
          <p:cNvPr id="7" name="Text 5"/>
          <p:cNvSpPr txBox="1"/>
          <p:nvPr/>
        </p:nvSpPr>
        <p:spPr>
          <a:xfrm>
            <a:off x="822960" y="2788920"/>
            <a:ext cx="4846320" cy="274320"/>
          </a:xfrm>
          <a:prstGeom prst="rect">
            <a:avLst/>
          </a:prstGeom>
          <a:noFill/>
          <a:ln/>
        </p:spPr>
        <p:txBody>
          <a:bodyPr wrap="square" lIns="0" tIns="0" rIns="0" bIns="0" rtlCol="0" anchor="ctr"/>
          <a:lstStyle/>
          <a:p>
            <a:pPr marL="0" indent="0">
              <a:buNone/>
            </a:pPr>
            <a:r>
              <a:rPr lang="en-US" sz="1100" b="1" kern="0" spc="300" dirty="0">
                <a:solidFill>
                  <a:srgbClr val="E31937"/>
                </a:solidFill>
                <a:latin typeface="Arial" pitchFamily="34" charset="0"/>
                <a:ea typeface="Arial" pitchFamily="34" charset="-122"/>
                <a:cs typeface="Arial" pitchFamily="34" charset="-120"/>
              </a:rPr>
              <a:t>PROMPT</a:t>
            </a:r>
            <a:endParaRPr lang="en-US" sz="1100" dirty="0"/>
          </a:p>
        </p:txBody>
      </p:sp>
      <p:sp>
        <p:nvSpPr>
          <p:cNvPr id="8" name="Text 6"/>
          <p:cNvSpPr txBox="1"/>
          <p:nvPr/>
        </p:nvSpPr>
        <p:spPr>
          <a:xfrm>
            <a:off x="822960" y="3154680"/>
            <a:ext cx="4846320" cy="1554480"/>
          </a:xfrm>
          <a:prstGeom prst="rect">
            <a:avLst/>
          </a:prstGeom>
          <a:noFill/>
          <a:ln/>
        </p:spPr>
        <p:txBody>
          <a:bodyPr wrap="square" lIns="0" tIns="0" rIns="0" bIns="0" rtlCol="0" anchor="t"/>
          <a:lstStyle/>
          <a:p>
            <a:pPr marL="0" indent="0">
              <a:buNone/>
            </a:pPr>
            <a:r>
              <a:rPr lang="en-US" sz="1400" dirty="0">
                <a:solidFill>
                  <a:srgbClr val="151515"/>
                </a:solidFill>
                <a:latin typeface="Courier New" pitchFamily="34" charset="0"/>
                <a:ea typeface="Courier New" pitchFamily="34" charset="-122"/>
                <a:cs typeface="Courier New" pitchFamily="34" charset="-120"/>
              </a:rPr>
              <a:t>Just for the show of it, create me one playwright tests that uses the properties like I specified for Full-test. Let me run it with 'magic playwright Monday' or 'magic playwright Tuesday'. Run it headful. Make it use webkit as browser.</a:t>
            </a:r>
            <a:endParaRPr lang="en-US" sz="1400" dirty="0"/>
          </a:p>
        </p:txBody>
      </p:sp>
      <p:sp>
        <p:nvSpPr>
          <p:cNvPr id="9" name="Shape 7"/>
          <p:cNvSpPr/>
          <p:nvPr/>
        </p:nvSpPr>
        <p:spPr>
          <a:xfrm>
            <a:off x="548640" y="5074920"/>
            <a:ext cx="5394960" cy="1097280"/>
          </a:xfrm>
          <a:prstGeom prst="roundRect">
            <a:avLst>
              <a:gd name="adj" fmla="val 10000"/>
            </a:avLst>
          </a:prstGeom>
          <a:solidFill>
            <a:srgbClr val="200A58"/>
          </a:solidFill>
          <a:ln w="12700">
            <a:solidFill>
              <a:srgbClr val="200A58"/>
            </a:solidFill>
            <a:prstDash val="solid"/>
          </a:ln>
        </p:spPr>
        <p:txBody>
          <a:bodyPr/>
          <a:lstStyle/>
          <a:p>
            <a:endParaRPr lang="en-US"/>
          </a:p>
        </p:txBody>
      </p:sp>
      <p:sp>
        <p:nvSpPr>
          <p:cNvPr id="10" name="Text 8"/>
          <p:cNvSpPr txBox="1"/>
          <p:nvPr/>
        </p:nvSpPr>
        <p:spPr>
          <a:xfrm>
            <a:off x="822960" y="5212080"/>
            <a:ext cx="4846320" cy="822960"/>
          </a:xfrm>
          <a:prstGeom prst="rect">
            <a:avLst/>
          </a:prstGeom>
          <a:noFill/>
          <a:ln/>
        </p:spPr>
        <p:txBody>
          <a:bodyPr wrap="square" lIns="0" tIns="0" rIns="0" bIns="0" rtlCol="0" anchor="ctr"/>
          <a:lstStyle/>
          <a:p>
            <a:pPr marL="0" indent="0">
              <a:buNone/>
            </a:pPr>
            <a:r>
              <a:rPr lang="en-US" sz="1600" b="1" dirty="0">
                <a:solidFill>
                  <a:srgbClr val="E31937"/>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magic playwright Monday</a:t>
            </a:r>
            <a:endParaRPr lang="en-US" sz="1600" dirty="0"/>
          </a:p>
          <a:p>
            <a:pPr marL="0" indent="0">
              <a:buNone/>
            </a:pPr>
            <a:r>
              <a:rPr lang="en-US" sz="1600" b="1" dirty="0">
                <a:solidFill>
                  <a:srgbClr val="E31937"/>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magic playwright Thursday</a:t>
            </a:r>
            <a:endParaRPr lang="en-US" sz="1600" dirty="0"/>
          </a:p>
        </p:txBody>
      </p:sp>
      <p:sp>
        <p:nvSpPr>
          <p:cNvPr id="11" name="Shape 9"/>
          <p:cNvSpPr/>
          <p:nvPr/>
        </p:nvSpPr>
        <p:spPr>
          <a:xfrm>
            <a:off x="6309360" y="2606040"/>
            <a:ext cx="5330952" cy="1325880"/>
          </a:xfrm>
          <a:prstGeom prst="roundRect">
            <a:avLst>
              <a:gd name="adj" fmla="val 8276"/>
            </a:avLst>
          </a:prstGeom>
          <a:solidFill>
            <a:srgbClr val="E31937"/>
          </a:solidFill>
          <a:ln w="12700">
            <a:solidFill>
              <a:srgbClr val="E31937"/>
            </a:solidFill>
            <a:prstDash val="solid"/>
          </a:ln>
        </p:spPr>
        <p:txBody>
          <a:bodyPr/>
          <a:lstStyle/>
          <a:p>
            <a:endParaRPr lang="en-US"/>
          </a:p>
        </p:txBody>
      </p:sp>
      <p:sp>
        <p:nvSpPr>
          <p:cNvPr id="12" name="Text 10"/>
          <p:cNvSpPr txBox="1"/>
          <p:nvPr/>
        </p:nvSpPr>
        <p:spPr>
          <a:xfrm>
            <a:off x="6583680" y="2788920"/>
            <a:ext cx="4782312" cy="45720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Monday fails after five steps</a:t>
            </a:r>
            <a:endParaRPr lang="en-US" sz="1800" dirty="0"/>
          </a:p>
        </p:txBody>
      </p:sp>
      <p:sp>
        <p:nvSpPr>
          <p:cNvPr id="13" name="Text 11"/>
          <p:cNvSpPr txBox="1"/>
          <p:nvPr/>
        </p:nvSpPr>
        <p:spPr>
          <a:xfrm>
            <a:off x="6583680" y="3337560"/>
            <a:ext cx="4782312" cy="411480"/>
          </a:xfrm>
          <a:prstGeom prst="rect">
            <a:avLst/>
          </a:prstGeom>
          <a:noFill/>
          <a:ln/>
        </p:spPr>
        <p:txBody>
          <a:bodyPr wrap="square" lIns="0" tIns="0" rIns="0" bIns="0" rtlCol="0" anchor="t"/>
          <a:lstStyle/>
          <a:p>
            <a:pPr marL="0" indent="0">
              <a:buNone/>
            </a:pPr>
            <a:r>
              <a:rPr lang="en-US" sz="1400" dirty="0">
                <a:solidFill>
                  <a:srgbClr val="FFFFFF"/>
                </a:solidFill>
                <a:latin typeface="Arial" pitchFamily="34" charset="0"/>
                <a:ea typeface="Arial" pitchFamily="34" charset="-122"/>
                <a:cs typeface="Arial" pitchFamily="34" charset="-120"/>
              </a:rPr>
              <a:t>On </a:t>
            </a:r>
            <a:r>
              <a:rPr lang="en-US" sz="1200" b="1" dirty="0">
                <a:solidFill>
                  <a:srgbClr val="FFFFFF"/>
                </a:solidFill>
                <a:latin typeface="Courier New" pitchFamily="34" charset="0"/>
                <a:ea typeface="Courier New" pitchFamily="34" charset="-122"/>
                <a:cs typeface="Courier New" pitchFamily="34" charset="-120"/>
              </a:rPr>
              <a:t>accountWithdrawalsRespectAccountLimit</a:t>
            </a:r>
            <a:r>
              <a:rPr lang="en-US" sz="1400" dirty="0">
                <a:solidFill>
                  <a:srgbClr val="FFFFFF"/>
                </a:solidFill>
                <a:latin typeface="Arial" pitchFamily="34" charset="0"/>
                <a:ea typeface="Arial" pitchFamily="34" charset="-122"/>
                <a:cs typeface="Arial" pitchFamily="34" charset="-120"/>
              </a:rPr>
              <a:t>: the same bug Bombadil finds.</a:t>
            </a:r>
            <a:endParaRPr lang="en-US" sz="1400" dirty="0"/>
          </a:p>
        </p:txBody>
      </p:sp>
      <p:sp>
        <p:nvSpPr>
          <p:cNvPr id="14" name="Shape 12"/>
          <p:cNvSpPr/>
          <p:nvPr/>
        </p:nvSpPr>
        <p:spPr>
          <a:xfrm>
            <a:off x="6309360" y="4069080"/>
            <a:ext cx="5330952" cy="1005840"/>
          </a:xfrm>
          <a:prstGeom prst="roundRect">
            <a:avLst>
              <a:gd name="adj" fmla="val 10909"/>
            </a:avLst>
          </a:prstGeom>
          <a:solidFill>
            <a:srgbClr val="5236AB"/>
          </a:solidFill>
          <a:ln w="12700">
            <a:solidFill>
              <a:srgbClr val="5236AB"/>
            </a:solidFill>
            <a:prstDash val="solid"/>
          </a:ln>
        </p:spPr>
        <p:txBody>
          <a:bodyPr/>
          <a:lstStyle/>
          <a:p>
            <a:endParaRPr lang="en-US"/>
          </a:p>
        </p:txBody>
      </p:sp>
      <p:sp>
        <p:nvSpPr>
          <p:cNvPr id="15" name="Text 13"/>
          <p:cNvSpPr txBox="1"/>
          <p:nvPr/>
        </p:nvSpPr>
        <p:spPr>
          <a:xfrm>
            <a:off x="6583680" y="4251960"/>
            <a:ext cx="4782312" cy="45720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Thursday passes all 300 steps</a:t>
            </a:r>
            <a:endParaRPr lang="en-US" sz="1800" dirty="0"/>
          </a:p>
        </p:txBody>
      </p:sp>
      <p:sp>
        <p:nvSpPr>
          <p:cNvPr id="16" name="Text 14"/>
          <p:cNvSpPr txBox="1"/>
          <p:nvPr/>
        </p:nvSpPr>
        <p:spPr>
          <a:xfrm>
            <a:off x="6583680" y="4800600"/>
            <a:ext cx="4782312" cy="91440"/>
          </a:xfrm>
          <a:prstGeom prst="rect">
            <a:avLst/>
          </a:prstGeom>
          <a:noFill/>
          <a:ln/>
        </p:spPr>
        <p:txBody>
          <a:bodyPr wrap="square" lIns="0" tIns="0" rIns="0" bIns="0" rtlCol="0" anchor="t"/>
          <a:lstStyle/>
          <a:p>
            <a:pPr marL="0" indent="0">
              <a:buNone/>
            </a:pPr>
            <a:endParaRPr lang="en-US" sz="1500" dirty="0"/>
          </a:p>
        </p:txBody>
      </p:sp>
      <p:sp>
        <p:nvSpPr>
          <p:cNvPr id="17" name="Text 15"/>
          <p:cNvSpPr txBox="1"/>
          <p:nvPr/>
        </p:nvSpPr>
        <p:spPr>
          <a:xfrm>
            <a:off x="6309360" y="5212080"/>
            <a:ext cx="5330952" cy="960120"/>
          </a:xfrm>
          <a:prstGeom prst="rect">
            <a:avLst/>
          </a:prstGeom>
          <a:noFill/>
          <a:ln/>
        </p:spPr>
        <p:txBody>
          <a:bodyPr wrap="square" lIns="0" tIns="0" rIns="0" bIns="0" rtlCol="0" anchor="t"/>
          <a:lstStyle/>
          <a:p>
            <a:pPr marL="0" indent="0">
              <a:buNone/>
            </a:pPr>
            <a:r>
              <a:rPr lang="en-US" sz="1300" dirty="0">
                <a:solidFill>
                  <a:srgbClr val="5C5C5C"/>
                </a:solidFill>
                <a:latin typeface="Arial" pitchFamily="34" charset="0"/>
                <a:ea typeface="Arial" pitchFamily="34" charset="-122"/>
                <a:cs typeface="Arial" pitchFamily="34" charset="-120"/>
              </a:rPr>
              <a:t>Covers 13 of the properties (the state invariants and the withdrawal step properties), runs in WebKit with a visible window, and replays the same walk for the same seed.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85800" cy="685800"/>
          </a:xfrm>
          <a:prstGeom prst="ellipse">
            <a:avLst/>
          </a:prstGeom>
          <a:solidFill>
            <a:srgbClr val="E31937"/>
          </a:solidFill>
          <a:ln w="12700">
            <a:solidFill>
              <a:srgbClr val="E31937"/>
            </a:solidFill>
            <a:prstDash val="solid"/>
          </a:ln>
        </p:spPr>
        <p:txBody>
          <a:bodyPr/>
          <a:lstStyle/>
          <a:p>
            <a:endParaRPr lang="en-US"/>
          </a:p>
        </p:txBody>
      </p:sp>
      <p:sp>
        <p:nvSpPr>
          <p:cNvPr id="3" name="Text 1"/>
          <p:cNvSpPr txBox="1"/>
          <p:nvPr/>
        </p:nvSpPr>
        <p:spPr>
          <a:xfrm>
            <a:off x="548640" y="45720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8</a:t>
            </a:r>
            <a:endParaRPr lang="en-US" sz="2200" dirty="0"/>
          </a:p>
        </p:txBody>
      </p:sp>
      <p:sp>
        <p:nvSpPr>
          <p:cNvPr id="4" name="Text 2"/>
          <p:cNvSpPr txBox="1"/>
          <p:nvPr/>
        </p:nvSpPr>
        <p:spPr>
          <a:xfrm>
            <a:off x="1463040" y="365760"/>
            <a:ext cx="10177272" cy="868680"/>
          </a:xfrm>
          <a:prstGeom prst="rect">
            <a:avLst/>
          </a:prstGeom>
          <a:noFill/>
          <a:ln/>
        </p:spPr>
        <p:txBody>
          <a:bodyPr wrap="square" lIns="0" tIns="0" rIns="0" bIns="0" rtlCol="0" anchor="ctr"/>
          <a:lstStyle/>
          <a:p>
            <a:pPr marL="0" indent="0">
              <a:buNone/>
            </a:pPr>
            <a:r>
              <a:rPr lang="en-US" sz="3200" b="1" dirty="0">
                <a:solidFill>
                  <a:srgbClr val="200A58"/>
                </a:solidFill>
                <a:latin typeface="Arial" pitchFamily="34" charset="0"/>
                <a:ea typeface="Arial" pitchFamily="34" charset="-122"/>
                <a:cs typeface="Arial" pitchFamily="34" charset="-120"/>
              </a:rPr>
              <a:t>Driver protocols</a:t>
            </a:r>
            <a:endParaRPr lang="en-US" sz="3200" dirty="0"/>
          </a:p>
        </p:txBody>
      </p:sp>
      <p:sp>
        <p:nvSpPr>
          <p:cNvPr id="5" name="Text 3"/>
          <p:cNvSpPr txBox="1"/>
          <p:nvPr/>
        </p:nvSpPr>
        <p:spPr>
          <a:xfrm>
            <a:off x="548640" y="1600200"/>
            <a:ext cx="11091672" cy="731520"/>
          </a:xfrm>
          <a:prstGeom prst="rect">
            <a:avLst/>
          </a:prstGeom>
          <a:noFill/>
          <a:ln/>
        </p:spPr>
        <p:txBody>
          <a:bodyPr wrap="square" lIns="0" tIns="0" rIns="0" bIns="0" rtlCol="0" anchor="t"/>
          <a:lstStyle/>
          <a:p>
            <a:pPr marL="0" indent="0">
              <a:buNone/>
            </a:pPr>
            <a:r>
              <a:rPr lang="en-US" sz="2600" b="1" dirty="0">
                <a:solidFill>
                  <a:srgbClr val="5236AB"/>
                </a:solidFill>
                <a:latin typeface="Arial" pitchFamily="34" charset="0"/>
                <a:ea typeface="Arial" pitchFamily="34" charset="-122"/>
                <a:cs typeface="Arial" pitchFamily="34" charset="-120"/>
              </a:rPr>
              <a:t>Should we talk driver protocols?</a:t>
            </a:r>
            <a:endParaRPr lang="en-US" sz="2600" dirty="0"/>
          </a:p>
        </p:txBody>
      </p:sp>
      <p:sp>
        <p:nvSpPr>
          <p:cNvPr id="6" name="Shape 4"/>
          <p:cNvSpPr/>
          <p:nvPr/>
        </p:nvSpPr>
        <p:spPr>
          <a:xfrm>
            <a:off x="548640" y="2743200"/>
            <a:ext cx="3148584" cy="1554480"/>
          </a:xfrm>
          <a:prstGeom prst="roundRect">
            <a:avLst>
              <a:gd name="adj" fmla="val 7059"/>
            </a:avLst>
          </a:prstGeom>
          <a:solidFill>
            <a:srgbClr val="200A58"/>
          </a:solidFill>
          <a:ln w="12700">
            <a:solidFill>
              <a:srgbClr val="200A58"/>
            </a:solidFill>
            <a:prstDash val="solid"/>
          </a:ln>
        </p:spPr>
        <p:txBody>
          <a:bodyPr/>
          <a:lstStyle/>
          <a:p>
            <a:endParaRPr lang="en-US"/>
          </a:p>
        </p:txBody>
      </p:sp>
      <p:sp>
        <p:nvSpPr>
          <p:cNvPr id="7" name="Text 5"/>
          <p:cNvSpPr txBox="1"/>
          <p:nvPr/>
        </p:nvSpPr>
        <p:spPr>
          <a:xfrm>
            <a:off x="548640" y="2743200"/>
            <a:ext cx="3148584" cy="155448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CDP in Bombadil</a:t>
            </a:r>
            <a:endParaRPr lang="en-US" sz="2200" dirty="0"/>
          </a:p>
        </p:txBody>
      </p:sp>
      <p:sp>
        <p:nvSpPr>
          <p:cNvPr id="8" name="Text 6"/>
          <p:cNvSpPr txBox="1"/>
          <p:nvPr/>
        </p:nvSpPr>
        <p:spPr>
          <a:xfrm>
            <a:off x="3697224" y="2743200"/>
            <a:ext cx="822960" cy="1554480"/>
          </a:xfrm>
          <a:prstGeom prst="rect">
            <a:avLst/>
          </a:prstGeom>
          <a:noFill/>
          <a:ln/>
        </p:spPr>
        <p:txBody>
          <a:bodyPr wrap="square" lIns="0" tIns="0" rIns="0" bIns="0" rtlCol="0" anchor="ctr"/>
          <a:lstStyle/>
          <a:p>
            <a:pPr marL="0" indent="0" algn="ctr">
              <a:buNone/>
            </a:pPr>
            <a:r>
              <a:rPr lang="en-US" sz="1800" b="1" dirty="0">
                <a:solidFill>
                  <a:srgbClr val="E31937"/>
                </a:solidFill>
                <a:latin typeface="Arial" pitchFamily="34" charset="0"/>
                <a:ea typeface="Arial" pitchFamily="34" charset="-122"/>
                <a:cs typeface="Arial" pitchFamily="34" charset="-120"/>
              </a:rPr>
              <a:t>vs.</a:t>
            </a:r>
            <a:endParaRPr lang="en-US" sz="1800" dirty="0"/>
          </a:p>
        </p:txBody>
      </p:sp>
      <p:sp>
        <p:nvSpPr>
          <p:cNvPr id="9" name="Shape 7"/>
          <p:cNvSpPr/>
          <p:nvPr/>
        </p:nvSpPr>
        <p:spPr>
          <a:xfrm>
            <a:off x="4520184" y="2743200"/>
            <a:ext cx="3148584" cy="1554480"/>
          </a:xfrm>
          <a:prstGeom prst="roundRect">
            <a:avLst>
              <a:gd name="adj" fmla="val 7059"/>
            </a:avLst>
          </a:prstGeom>
          <a:solidFill>
            <a:srgbClr val="200A58"/>
          </a:solidFill>
          <a:ln w="12700">
            <a:solidFill>
              <a:srgbClr val="200A58"/>
            </a:solidFill>
            <a:prstDash val="solid"/>
          </a:ln>
        </p:spPr>
        <p:txBody>
          <a:bodyPr/>
          <a:lstStyle/>
          <a:p>
            <a:endParaRPr lang="en-US"/>
          </a:p>
        </p:txBody>
      </p:sp>
      <p:sp>
        <p:nvSpPr>
          <p:cNvPr id="10" name="Text 8"/>
          <p:cNvSpPr txBox="1"/>
          <p:nvPr/>
        </p:nvSpPr>
        <p:spPr>
          <a:xfrm>
            <a:off x="4520184" y="2743200"/>
            <a:ext cx="3148584" cy="155448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CDP in Playwright</a:t>
            </a:r>
            <a:endParaRPr lang="en-US" sz="2200" dirty="0"/>
          </a:p>
        </p:txBody>
      </p:sp>
      <p:sp>
        <p:nvSpPr>
          <p:cNvPr id="11" name="Text 9"/>
          <p:cNvSpPr txBox="1"/>
          <p:nvPr/>
        </p:nvSpPr>
        <p:spPr>
          <a:xfrm>
            <a:off x="7668768" y="2743200"/>
            <a:ext cx="822960" cy="1554480"/>
          </a:xfrm>
          <a:prstGeom prst="rect">
            <a:avLst/>
          </a:prstGeom>
          <a:noFill/>
          <a:ln/>
        </p:spPr>
        <p:txBody>
          <a:bodyPr wrap="square" lIns="0" tIns="0" rIns="0" bIns="0" rtlCol="0" anchor="ctr"/>
          <a:lstStyle/>
          <a:p>
            <a:pPr marL="0" indent="0" algn="ctr">
              <a:buNone/>
            </a:pPr>
            <a:r>
              <a:rPr lang="en-US" sz="1800" b="1" dirty="0">
                <a:solidFill>
                  <a:srgbClr val="E31937"/>
                </a:solidFill>
                <a:latin typeface="Arial" pitchFamily="34" charset="0"/>
                <a:ea typeface="Arial" pitchFamily="34" charset="-122"/>
                <a:cs typeface="Arial" pitchFamily="34" charset="-120"/>
              </a:rPr>
              <a:t>vs.</a:t>
            </a:r>
            <a:endParaRPr lang="en-US" sz="1800" dirty="0"/>
          </a:p>
        </p:txBody>
      </p:sp>
      <p:sp>
        <p:nvSpPr>
          <p:cNvPr id="12" name="Shape 10"/>
          <p:cNvSpPr/>
          <p:nvPr/>
        </p:nvSpPr>
        <p:spPr>
          <a:xfrm>
            <a:off x="8491728" y="2743200"/>
            <a:ext cx="3148584" cy="1554480"/>
          </a:xfrm>
          <a:prstGeom prst="roundRect">
            <a:avLst>
              <a:gd name="adj" fmla="val 7059"/>
            </a:avLst>
          </a:prstGeom>
          <a:solidFill>
            <a:srgbClr val="5236AB"/>
          </a:solidFill>
          <a:ln w="12700">
            <a:solidFill>
              <a:srgbClr val="5236AB"/>
            </a:solidFill>
            <a:prstDash val="solid"/>
          </a:ln>
        </p:spPr>
        <p:txBody>
          <a:bodyPr/>
          <a:lstStyle/>
          <a:p>
            <a:endParaRPr lang="en-US"/>
          </a:p>
        </p:txBody>
      </p:sp>
      <p:sp>
        <p:nvSpPr>
          <p:cNvPr id="13" name="Text 11"/>
          <p:cNvSpPr txBox="1"/>
          <p:nvPr/>
        </p:nvSpPr>
        <p:spPr>
          <a:xfrm>
            <a:off x="8491728" y="2743200"/>
            <a:ext cx="3148584" cy="155448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WebDriver BiDi</a:t>
            </a:r>
            <a:endParaRPr lang="en-US" sz="2200" dirty="0"/>
          </a:p>
        </p:txBody>
      </p:sp>
      <p:sp>
        <p:nvSpPr>
          <p:cNvPr id="14" name="Text 12"/>
          <p:cNvSpPr txBox="1"/>
          <p:nvPr/>
        </p:nvSpPr>
        <p:spPr>
          <a:xfrm>
            <a:off x="548640" y="4754880"/>
            <a:ext cx="11091672" cy="731520"/>
          </a:xfrm>
          <a:prstGeom prst="rect">
            <a:avLst/>
          </a:prstGeom>
          <a:noFill/>
          <a:ln/>
        </p:spPr>
        <p:txBody>
          <a:bodyPr wrap="square" lIns="0" tIns="0" rIns="0" bIns="0" rtlCol="0" anchor="t"/>
          <a:lstStyle/>
          <a:p>
            <a:pPr marL="0" indent="0">
              <a:buNone/>
            </a:pPr>
            <a:r>
              <a:rPr lang="en-US" sz="2000" i="1" dirty="0">
                <a:solidFill>
                  <a:srgbClr val="5C5C5C"/>
                </a:solidFill>
                <a:latin typeface="Arial" pitchFamily="34" charset="0"/>
                <a:ea typeface="Arial" pitchFamily="34" charset="-122"/>
                <a:cs typeface="Arial" pitchFamily="34" charset="-120"/>
              </a:rPr>
              <a:t>That all matters more now with AI.</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85800" cy="685800"/>
          </a:xfrm>
          <a:prstGeom prst="ellipse">
            <a:avLst/>
          </a:prstGeom>
          <a:solidFill>
            <a:srgbClr val="E31937"/>
          </a:solidFill>
          <a:ln w="12700">
            <a:solidFill>
              <a:srgbClr val="E31937"/>
            </a:solidFill>
            <a:prstDash val="solid"/>
          </a:ln>
        </p:spPr>
        <p:txBody>
          <a:bodyPr/>
          <a:lstStyle/>
          <a:p>
            <a:endParaRPr lang="en-US"/>
          </a:p>
        </p:txBody>
      </p:sp>
      <p:sp>
        <p:nvSpPr>
          <p:cNvPr id="3" name="Text 1"/>
          <p:cNvSpPr txBox="1"/>
          <p:nvPr/>
        </p:nvSpPr>
        <p:spPr>
          <a:xfrm>
            <a:off x="548640" y="457200"/>
            <a:ext cx="685800" cy="68580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9</a:t>
            </a:r>
            <a:endParaRPr lang="en-US" sz="2200" dirty="0"/>
          </a:p>
        </p:txBody>
      </p:sp>
      <p:sp>
        <p:nvSpPr>
          <p:cNvPr id="4" name="Text 2"/>
          <p:cNvSpPr txBox="1"/>
          <p:nvPr/>
        </p:nvSpPr>
        <p:spPr>
          <a:xfrm>
            <a:off x="1463040" y="365760"/>
            <a:ext cx="10177272" cy="868680"/>
          </a:xfrm>
          <a:prstGeom prst="rect">
            <a:avLst/>
          </a:prstGeom>
          <a:noFill/>
          <a:ln/>
        </p:spPr>
        <p:txBody>
          <a:bodyPr wrap="square" lIns="0" tIns="0" rIns="0" bIns="0" rtlCol="0" anchor="ctr"/>
          <a:lstStyle/>
          <a:p>
            <a:pPr marL="0" indent="0">
              <a:buNone/>
            </a:pPr>
            <a:r>
              <a:rPr lang="en-US" sz="3200" b="1" dirty="0">
                <a:solidFill>
                  <a:srgbClr val="200A58"/>
                </a:solidFill>
                <a:latin typeface="Arial" pitchFamily="34" charset="0"/>
                <a:ea typeface="Arial" pitchFamily="34" charset="-122"/>
                <a:cs typeface="Arial" pitchFamily="34" charset="-120"/>
              </a:rPr>
              <a:t>Beyond the ATM</a:t>
            </a:r>
            <a:endParaRPr lang="en-US" sz="3200" dirty="0"/>
          </a:p>
        </p:txBody>
      </p:sp>
      <p:sp>
        <p:nvSpPr>
          <p:cNvPr id="5" name="Text 3"/>
          <p:cNvSpPr txBox="1"/>
          <p:nvPr/>
        </p:nvSpPr>
        <p:spPr>
          <a:xfrm>
            <a:off x="548640" y="1600200"/>
            <a:ext cx="11091672" cy="457200"/>
          </a:xfrm>
          <a:prstGeom prst="rect">
            <a:avLst/>
          </a:prstGeom>
          <a:noFill/>
          <a:ln/>
        </p:spPr>
        <p:txBody>
          <a:bodyPr wrap="square" lIns="0" tIns="0" rIns="0" bIns="0" rtlCol="0" anchor="t"/>
          <a:lstStyle/>
          <a:p>
            <a:pPr marL="0" indent="0">
              <a:buNone/>
            </a:pPr>
            <a:r>
              <a:rPr lang="en-US" sz="1800" dirty="0">
                <a:solidFill>
                  <a:srgbClr val="5C5C5C"/>
                </a:solidFill>
                <a:latin typeface="Arial" pitchFamily="34" charset="0"/>
                <a:ea typeface="Arial" pitchFamily="34" charset="-122"/>
                <a:cs typeface="Arial" pitchFamily="34" charset="-120"/>
              </a:rPr>
              <a:t>New tool, so I also tested two more systems with it.</a:t>
            </a:r>
            <a:endParaRPr lang="en-US" sz="1800" dirty="0"/>
          </a:p>
        </p:txBody>
      </p:sp>
      <p:sp>
        <p:nvSpPr>
          <p:cNvPr id="6" name="Shape 4"/>
          <p:cNvSpPr/>
          <p:nvPr/>
        </p:nvSpPr>
        <p:spPr>
          <a:xfrm>
            <a:off x="548640" y="2377440"/>
            <a:ext cx="3291840" cy="1691640"/>
          </a:xfrm>
          <a:prstGeom prst="roundRect">
            <a:avLst>
              <a:gd name="adj" fmla="val 6486"/>
            </a:avLst>
          </a:prstGeom>
          <a:solidFill>
            <a:srgbClr val="200A58"/>
          </a:solidFill>
          <a:ln w="12700">
            <a:solidFill>
              <a:srgbClr val="200A58"/>
            </a:solidFill>
            <a:prstDash val="solid"/>
          </a:ln>
        </p:spPr>
        <p:txBody>
          <a:bodyPr/>
          <a:lstStyle/>
          <a:p>
            <a:endParaRPr lang="en-US"/>
          </a:p>
        </p:txBody>
      </p:sp>
      <p:sp>
        <p:nvSpPr>
          <p:cNvPr id="7" name="Text 5"/>
          <p:cNvSpPr txBox="1"/>
          <p:nvPr/>
        </p:nvSpPr>
        <p:spPr>
          <a:xfrm>
            <a:off x="548640" y="2377440"/>
            <a:ext cx="3291840" cy="1691640"/>
          </a:xfrm>
          <a:prstGeom prst="rect">
            <a:avLst/>
          </a:prstGeom>
          <a:noFill/>
          <a:ln/>
        </p:spPr>
        <p:txBody>
          <a:bodyPr wrap="square" lIns="0" tIns="0" rIns="0" bIns="0"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Prestashop</a:t>
            </a:r>
            <a:endParaRPr lang="en-US" sz="2600" dirty="0"/>
          </a:p>
        </p:txBody>
      </p:sp>
      <p:sp>
        <p:nvSpPr>
          <p:cNvPr id="8" name="Shape 6"/>
          <p:cNvSpPr/>
          <p:nvPr/>
        </p:nvSpPr>
        <p:spPr>
          <a:xfrm>
            <a:off x="548640" y="4343400"/>
            <a:ext cx="3291840" cy="1691640"/>
          </a:xfrm>
          <a:prstGeom prst="roundRect">
            <a:avLst>
              <a:gd name="adj" fmla="val 6486"/>
            </a:avLst>
          </a:prstGeom>
          <a:solidFill>
            <a:srgbClr val="5236AB"/>
          </a:solidFill>
          <a:ln w="12700">
            <a:solidFill>
              <a:srgbClr val="5236AB"/>
            </a:solidFill>
            <a:prstDash val="solid"/>
          </a:ln>
        </p:spPr>
        <p:txBody>
          <a:bodyPr/>
          <a:lstStyle/>
          <a:p>
            <a:endParaRPr lang="en-US"/>
          </a:p>
        </p:txBody>
      </p:sp>
      <p:sp>
        <p:nvSpPr>
          <p:cNvPr id="9" name="Text 7"/>
          <p:cNvSpPr txBox="1"/>
          <p:nvPr/>
        </p:nvSpPr>
        <p:spPr>
          <a:xfrm>
            <a:off x="548640" y="4343400"/>
            <a:ext cx="3291840" cy="1691640"/>
          </a:xfrm>
          <a:prstGeom prst="rect">
            <a:avLst/>
          </a:prstGeom>
          <a:noFill/>
          <a:ln/>
        </p:spPr>
        <p:txBody>
          <a:bodyPr wrap="square" lIns="0" tIns="0" rIns="0" bIns="0"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D365FO</a:t>
            </a:r>
            <a:endParaRPr lang="en-US" sz="2600" dirty="0"/>
          </a:p>
        </p:txBody>
      </p:sp>
      <p:sp>
        <p:nvSpPr>
          <p:cNvPr id="10" name="Shape 8"/>
          <p:cNvSpPr/>
          <p:nvPr/>
        </p:nvSpPr>
        <p:spPr>
          <a:xfrm>
            <a:off x="4206240" y="2377440"/>
            <a:ext cx="7434072" cy="3657600"/>
          </a:xfrm>
          <a:prstGeom prst="roundRect">
            <a:avLst>
              <a:gd name="adj" fmla="val 3000"/>
            </a:avLst>
          </a:prstGeom>
          <a:solidFill>
            <a:srgbClr val="F2F1F9"/>
          </a:solidFill>
          <a:ln w="12700">
            <a:solidFill>
              <a:srgbClr val="F2F1F9"/>
            </a:solidFill>
            <a:prstDash val="solid"/>
          </a:ln>
        </p:spPr>
        <p:txBody>
          <a:bodyPr/>
          <a:lstStyle/>
          <a:p>
            <a:endParaRPr lang="en-US"/>
          </a:p>
        </p:txBody>
      </p:sp>
      <p:sp>
        <p:nvSpPr>
          <p:cNvPr id="11" name="Text 9"/>
          <p:cNvSpPr txBox="1"/>
          <p:nvPr/>
        </p:nvSpPr>
        <p:spPr>
          <a:xfrm>
            <a:off x="4572000" y="2651760"/>
            <a:ext cx="6702552" cy="320040"/>
          </a:xfrm>
          <a:prstGeom prst="rect">
            <a:avLst/>
          </a:prstGeom>
          <a:noFill/>
          <a:ln/>
        </p:spPr>
        <p:txBody>
          <a:bodyPr wrap="square" lIns="0" tIns="0" rIns="0" bIns="0" rtlCol="0" anchor="t"/>
          <a:lstStyle/>
          <a:p>
            <a:pPr marL="0" indent="0">
              <a:buNone/>
            </a:pPr>
            <a:r>
              <a:rPr lang="en-US" sz="1200" b="1" kern="0" spc="300" dirty="0">
                <a:solidFill>
                  <a:srgbClr val="E31937"/>
                </a:solidFill>
                <a:latin typeface="Arial" pitchFamily="34" charset="0"/>
                <a:ea typeface="Arial" pitchFamily="34" charset="-122"/>
                <a:cs typeface="Arial" pitchFamily="34" charset="-120"/>
              </a:rPr>
              <a:t>NEXT PRACTICE</a:t>
            </a:r>
            <a:endParaRPr lang="en-US" sz="1200" dirty="0"/>
          </a:p>
        </p:txBody>
      </p:sp>
      <p:sp>
        <p:nvSpPr>
          <p:cNvPr id="12" name="Text 10"/>
          <p:cNvSpPr txBox="1"/>
          <p:nvPr/>
        </p:nvSpPr>
        <p:spPr>
          <a:xfrm>
            <a:off x="4572000" y="3154680"/>
            <a:ext cx="6702552" cy="2651760"/>
          </a:xfrm>
          <a:prstGeom prst="rect">
            <a:avLst/>
          </a:prstGeom>
          <a:noFill/>
          <a:ln/>
        </p:spPr>
        <p:txBody>
          <a:bodyPr wrap="square" lIns="0" tIns="0" rIns="0" bIns="0" rtlCol="0" anchor="t"/>
          <a:lstStyle/>
          <a:p>
            <a:pPr marL="342900" indent="-342900">
              <a:spcAft>
                <a:spcPts val="1400"/>
              </a:spcAft>
              <a:buSzPct val="100000"/>
              <a:buChar char="•"/>
            </a:pPr>
            <a:r>
              <a:rPr lang="en-US" sz="1900" dirty="0">
                <a:solidFill>
                  <a:srgbClr val="151515"/>
                </a:solidFill>
                <a:latin typeface="Arial" pitchFamily="34" charset="0"/>
                <a:ea typeface="Arial" pitchFamily="34" charset="-122"/>
                <a:cs typeface="Arial" pitchFamily="34" charset="-120"/>
              </a:rPr>
              <a:t>PR to fix the tool so that it works with D365 FO.</a:t>
            </a:r>
            <a:endParaRPr lang="en-US" sz="1900" dirty="0"/>
          </a:p>
          <a:p>
            <a:pPr marL="342900" indent="-342900">
              <a:buSzPct val="100000"/>
              <a:buChar char="•"/>
            </a:pPr>
            <a:r>
              <a:rPr lang="en-US" sz="1900" dirty="0">
                <a:solidFill>
                  <a:srgbClr val="151515"/>
                </a:solidFill>
                <a:latin typeface="Arial" pitchFamily="34" charset="0"/>
                <a:ea typeface="Arial" pitchFamily="34" charset="-122"/>
                <a:cs typeface="Arial" pitchFamily="34" charset="-120"/>
              </a:rPr>
              <a:t>Report / fix the three problems + the hundreds of API problems this found on Prestashop, for common good?</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00A58"/>
        </a:solidFill>
        <a:effectLst/>
      </p:bgPr>
    </p:bg>
    <p:spTree>
      <p:nvGrpSpPr>
        <p:cNvPr id="1" name=""/>
        <p:cNvGrpSpPr/>
        <p:nvPr/>
      </p:nvGrpSpPr>
      <p:grpSpPr>
        <a:xfrm>
          <a:off x="0" y="0"/>
          <a:ext cx="0" cy="0"/>
          <a:chOff x="0" y="0"/>
          <a:chExt cx="0" cy="0"/>
        </a:xfrm>
      </p:grpSpPr>
      <p:sp>
        <p:nvSpPr>
          <p:cNvPr id="2" name="Text 0"/>
          <p:cNvSpPr txBox="1"/>
          <p:nvPr/>
        </p:nvSpPr>
        <p:spPr>
          <a:xfrm>
            <a:off x="548640" y="822960"/>
            <a:ext cx="11091672" cy="1097280"/>
          </a:xfrm>
          <a:prstGeom prst="rect">
            <a:avLst/>
          </a:prstGeom>
          <a:noFill/>
          <a:ln/>
        </p:spPr>
        <p:txBody>
          <a:bodyPr wrap="square" lIns="0" tIns="0" rIns="0" bIns="0" rtlCol="0" anchor="ctr"/>
          <a:lstStyle/>
          <a:p>
            <a:pPr marL="0" indent="0">
              <a:buNone/>
            </a:pPr>
            <a:r>
              <a:rPr lang="en-US" sz="3800" b="1" dirty="0">
                <a:solidFill>
                  <a:srgbClr val="FFFFFF"/>
                </a:solidFill>
                <a:latin typeface="Arial" pitchFamily="34" charset="0"/>
                <a:ea typeface="Arial" pitchFamily="34" charset="-122"/>
                <a:cs typeface="Arial" pitchFamily="34" charset="-120"/>
              </a:rPr>
              <a:t>What I would also want to show you…</a:t>
            </a:r>
            <a:endParaRPr lang="en-US" sz="3800" dirty="0"/>
          </a:p>
        </p:txBody>
      </p:sp>
      <p:sp>
        <p:nvSpPr>
          <p:cNvPr id="3" name="Shape 1"/>
          <p:cNvSpPr/>
          <p:nvPr/>
        </p:nvSpPr>
        <p:spPr>
          <a:xfrm>
            <a:off x="548640" y="2651760"/>
            <a:ext cx="5362956" cy="2560320"/>
          </a:xfrm>
          <a:prstGeom prst="roundRect">
            <a:avLst>
              <a:gd name="adj" fmla="val 4286"/>
            </a:avLst>
          </a:prstGeom>
          <a:solidFill>
            <a:srgbClr val="5236AB"/>
          </a:solidFill>
          <a:ln w="12700">
            <a:solidFill>
              <a:srgbClr val="5236AB"/>
            </a:solidFill>
            <a:prstDash val="solid"/>
          </a:ln>
        </p:spPr>
        <p:txBody>
          <a:bodyPr/>
          <a:lstStyle/>
          <a:p>
            <a:endParaRPr lang="en-US"/>
          </a:p>
        </p:txBody>
      </p:sp>
      <p:sp>
        <p:nvSpPr>
          <p:cNvPr id="4" name="Text 2"/>
          <p:cNvSpPr txBox="1"/>
          <p:nvPr/>
        </p:nvSpPr>
        <p:spPr>
          <a:xfrm>
            <a:off x="914400" y="2651760"/>
            <a:ext cx="4631436" cy="256032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Local LLM use for notetaking and summarizing</a:t>
            </a:r>
            <a:endParaRPr lang="en-US" sz="2400" dirty="0"/>
          </a:p>
        </p:txBody>
      </p:sp>
      <p:sp>
        <p:nvSpPr>
          <p:cNvPr id="5" name="Shape 3"/>
          <p:cNvSpPr/>
          <p:nvPr/>
        </p:nvSpPr>
        <p:spPr>
          <a:xfrm>
            <a:off x="6277356" y="2651760"/>
            <a:ext cx="5362956" cy="2560320"/>
          </a:xfrm>
          <a:prstGeom prst="roundRect">
            <a:avLst>
              <a:gd name="adj" fmla="val 4286"/>
            </a:avLst>
          </a:prstGeom>
          <a:solidFill>
            <a:srgbClr val="E31937"/>
          </a:solidFill>
          <a:ln w="12700">
            <a:solidFill>
              <a:srgbClr val="E31937"/>
            </a:solidFill>
            <a:prstDash val="solid"/>
          </a:ln>
        </p:spPr>
        <p:txBody>
          <a:bodyPr/>
          <a:lstStyle/>
          <a:p>
            <a:endParaRPr lang="en-US"/>
          </a:p>
        </p:txBody>
      </p:sp>
      <p:sp>
        <p:nvSpPr>
          <p:cNvPr id="6" name="Text 4"/>
          <p:cNvSpPr txBox="1"/>
          <p:nvPr/>
        </p:nvSpPr>
        <p:spPr>
          <a:xfrm>
            <a:off x="6643116" y="2651760"/>
            <a:ext cx="4631436" cy="256032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2nd brain aka. LLM Wiki, and how that is different from RAG</a:t>
            </a:r>
            <a:endParaRPr lang="en-US" sz="2400" dirty="0"/>
          </a:p>
          <a:p>
            <a:pPr marL="0" indent="0">
              <a:spcBef>
                <a:spcPts val="1000"/>
              </a:spcBef>
              <a:buNone/>
            </a:pPr>
            <a:r>
              <a:rPr lang="en-US" sz="2400" b="0" dirty="0">
                <a:solidFill>
                  <a:srgbClr val="FFFFFF"/>
                </a:solidFill>
                <a:latin typeface="Arial" pitchFamily="34" charset="0"/>
                <a:ea typeface="Arial" pitchFamily="34" charset="-122"/>
                <a:cs typeface="Arial" pitchFamily="34" charset="-120"/>
              </a:rPr>
              <a:t>Maybe go Caveman?</a:t>
            </a:r>
            <a:endParaRPr lang="en-US" sz="2400" dirty="0"/>
          </a:p>
        </p:txBody>
      </p:sp>
      <p:sp>
        <p:nvSpPr>
          <p:cNvPr id="7" name="TextBox 6">
            <a:extLst>
              <a:ext uri="{FF2B5EF4-FFF2-40B4-BE49-F238E27FC236}">
                <a16:creationId xmlns:a16="http://schemas.microsoft.com/office/drawing/2014/main" id="{4F5A44E8-54EE-F681-D8A4-B3F1D96E60F3}"/>
              </a:ext>
            </a:extLst>
          </p:cNvPr>
          <p:cNvSpPr txBox="1"/>
          <p:nvPr/>
        </p:nvSpPr>
        <p:spPr>
          <a:xfrm>
            <a:off x="4898251" y="5574268"/>
            <a:ext cx="2392450" cy="369332"/>
          </a:xfrm>
          <a:prstGeom prst="rect">
            <a:avLst/>
          </a:prstGeom>
          <a:noFill/>
        </p:spPr>
        <p:txBody>
          <a:bodyPr wrap="none" rtlCol="0">
            <a:spAutoFit/>
          </a:bodyPr>
          <a:lstStyle/>
          <a:p>
            <a:r>
              <a:rPr lang="en-US" dirty="0">
                <a:solidFill>
                  <a:schemeClr val="bg1"/>
                </a:solidFill>
              </a:rPr>
              <a:t>YOUR TURN TO SHARE?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9290083-bd2f-48a2-8ac5-09a524b17d15}" enabled="1" method="Privileged" siteId="{b9fec68c-c92d-461e-9a97-3d03a0f18b82}" contentBits="1" removed="0"/>
</clbl:labelList>
</file>

<file path=docProps/app.xml><?xml version="1.0" encoding="utf-8"?>
<Properties xmlns="http://schemas.openxmlformats.org/officeDocument/2006/extended-properties" xmlns:vt="http://schemas.openxmlformats.org/officeDocument/2006/docPropsVTypes">
  <TotalTime>8</TotalTime>
  <Words>1170</Words>
  <Application>Microsoft Macintosh PowerPoint</Application>
  <PresentationFormat>Widescreen</PresentationFormat>
  <Paragraphs>145</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Property-based testing a web UI with Bombadil</dc:title>
  <dc:subject>PptxGenJS Presentation</dc:subject>
  <dc:creator>Maaret Pyhäjärvi</dc:creator>
  <cp:lastModifiedBy>Pyhäjärvi, Maaret</cp:lastModifiedBy>
  <cp:revision>5</cp:revision>
  <dcterms:created xsi:type="dcterms:W3CDTF">2026-10-01T19:51:01Z</dcterms:created>
  <dcterms:modified xsi:type="dcterms:W3CDTF">2026-10-02T09:22:01Z</dcterms:modified>
</cp:coreProperties>
</file>